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success</c:v>
                </c:pt>
              </c:strCache>
            </c:strRef>
          </c:tx>
          <c:spPr>
            <a:solidFill>
              <a:srgbClr val="AFAFA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A1C20"/>
                    </a:solidFill>
                    <a:latin typeface="IBM Plex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FAF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29B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9B5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 model</c:v>
                  </c:pt>
                  <c:pt idx="1">
                    <c:v>Teacher (feels)</c:v>
                  </c:pt>
                  <c:pt idx="2">
                    <c:v>Student (no touch)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56.7</c:v>
                </c:pt>
                <c:pt idx="1">
                  <c:v>75</c:v>
                </c:pt>
                <c:pt idx="2">
                  <c:v>86.7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A1C20"/>
                  </a:solidFill>
                  <a:latin typeface="IBM Plex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2DFD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3E45"/>
                </a:solidFill>
                <a:latin typeface="IBM Plex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MEMORY MAP — spell T·O·U·C·H (one letter per slide; the tiles top-right show where you are):
T = Trouble · O = One idea · U = Use touch as a reward · C = Cut the sensors · H = Hold the egg
Story thread: you open with an egg and you close with the egg.
TIMING: 2:50 total, including the chair's intro. 30-second warning at 2:20 → you should be on H (the egg slide) by then. Hard cut at 3:00.
SAY (~10 s):
"Hand a robot an egg. Will it crack it? Our robot learned to be gentle — and at deployment, it doesn't even need to feel the egg."
BRIDGE → T: "Here's the trouble…"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— TROUBLE  (≈ 0:10 → 0:30)
CUE: two cards = two bad options. Left: cameras can't feel. Right: sensors cost.
SAY:
"Here's the trouble. Vision-language-action models only see. A camera shows where the egg is — not how hard you're squeezing it. So they crush fragile things. The classic fix is tactile sensors — but they're expensive, and they tie your policy to special hardware."
KEYWORDS: see, not feel → crush · sensors → cost + special hardware
BRIDGE → O: just read the bottom line: "What if a robot could learn the feel — and leave the sensors behind?"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— ONE IDEA  (≈ 0:30 → 0:50)
CUE: left panel = the lab (robot feels), right panel = anywhere (cameras only). Point left, then right.
SAY:
"That's our one idea: touch at training time, not at deployment. We learn on a robot that can feel — then ship a policy that needs only cameras. Touch becomes a teacher, not a part you have to install."
KEYWORDS: lab → anywhere · touch = teacher
BRIDGE → U: "It takes two steps. Step one…"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— USE TOUCH AS A REWARD  (≈ 0:50 → 1:25)
CUE: the figure is the whole architecture. Big blue bar = SmolVLA's vision-language model; right box = action expert (outputs the motions). GREEN dashed box = the tactile reward (this slide). PURPLE dashed box = distillation (next slide).
Then read the three chips left → right: Score → Penalize → Reward.
SAY:
"Step one: use touch as a reward. We start from SmolVLA — a small vision-language model plus an action expert that outputs motions. Offline, the fingertip sensors score every moment of every demo. Too much force, slipping, unsafe pressure — penalty. Gentle and successful — bonus. So the action expert learns more from the gentle moves, and less from the crushing ones."
OPTIONAL NAME-DROP: "We call it Safety-Aware Reward-Weighted Flow Matching."
BRIDGE → C: "The purple box is step two…"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— CUT THE SENSORS  (≈ 1:25 → 1:55)
CUE: top card = teacher → arrow → bottom card = student. Chart climbs grey → blue → orange.
MEMORY TRICK: 57 → 75 is the same two digits flipped. Then +12 more → 87.
SAY:
"Step two: cut the sensors. The touch-trained teacher labels the data once, offline. The student — the same small model, with no tactile input — learns from a 50/50 mix of demos and teacher actions. And here's the twist: the student that can't feel beats the teacher that can — 86.7 versus 75 percent."
PAUSE for a beat after the twist.
BRIDGE → H: click, then open with "And yes — it holds the egg."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 — HOLD THE EGG  (≈ 1:55 → 2:25)   ← the 30-second warning lands around here
CUE: rows climb 75 → 90 → 95 top to bottom, ending on the egg. Bottom tiles: 86.7 · +30 · 0.
SAY:
"And yes — it holds the egg. Real robot, three delicate tasks, 20 trials each. Jar: 50 to 75 percent. Waffles: 70 to 90. And the egg: 50 to 95. That's plus 30 points on average — with zero tactile sensors and no extra compute at deployment."
IF SHORT ON TIME: say only "Egg: 50 to 95. Plus 30 points on average, zero sensors." and move on.
BRIDGE → close: "So…"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 (≈ 2:25 → 2:35) — stop talking by 2:45 at the latest.
SAY:
"Train with touch — deploy without it. Code, data and models are open: scan the QR codes, and come see the robot at our poster. Thank you!"
(If you know your poster board number, say it here.)
────────
POSTER Q&amp;A PREP (not for the stage):
• Other VLAs (X-VLA, VLA-0), fine-tuned on the same data, scored 0% on all three tasks — scale alone doesn't give force awareness.
• The best tactile-at-inference variant (async teacher) reached 81.7% — still below the sensor-free student's 86.7%.
• Data: 310 real episodes on a bimanual LeRobot SO-101, including deliberate failures (e.g. cracked eggs) that receive negative reward.
• Hardware: 2 × 10×10 taxels (200), 1–9 N, 120 Hz; RealSense D435 + two IMX335 wrist cameras; inference on a Jetson Orin NX 16 GB.
• Same 0.45B SmolVLA at inference → no extra cost. Distillation is fully offline (teacher actions pre-computed once).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image" Target="../media/image-5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gif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6C45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IEEE/RSJ IROS 2026  ·  PITTSBURGH</a:t>
            </a:r>
            <a:endParaRPr lang="en-US" sz="1200" dirty="0"/>
          </a:p>
        </p:txBody>
      </p:sp>
      <p:pic>
        <p:nvPicPr>
          <p:cNvPr id="3" name="Image 0" descr="/tmp/claude-0/deck/assets/skoltech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83080" cy="299923"/>
          </a:xfrm>
          <a:prstGeom prst="rect">
            <a:avLst/>
          </a:prstGeom>
        </p:spPr>
      </p:pic>
      <p:pic>
        <p:nvPicPr>
          <p:cNvPr id="4" name="Image 1" descr="/tmp/claude-0/deck/assets/yandex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768096"/>
            <a:ext cx="1783080" cy="207569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0634472" y="329184"/>
            <a:ext cx="10058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6" name="Image 2" descr="/tmp/claude-0/deck/assets/ir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9336" y="370332"/>
            <a:ext cx="896112" cy="58155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1417320"/>
            <a:ext cx="6766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dirty="0">
                <a:solidFill>
                  <a:srgbClr val="F6C45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HapticVLA</a:t>
            </a:r>
            <a:endParaRPr lang="en-US" sz="9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724912"/>
            <a:ext cx="6583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Contact-Rich Manipulation via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Vision-Language-Action Model without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Inference-Time Tactile Sensing</a:t>
            </a:r>
            <a:endParaRPr lang="en-US" sz="3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43434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DED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Konstantin Gubernatorov*,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Mikhail Sannikov*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DED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Ilya Mikhalchuk*, Egor Kuznetsov, Makar Artemov, Ogunwoye Faith Oluwatobi, Marcelino Julio Fernando, Artem Asanov, Ziang Guo, Dzmitry Tsetserukou</a:t>
            </a:r>
            <a:endParaRPr lang="en-US" sz="125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28523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6C7C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Intelligent Space Robotics Laboratory, Skoltech  ·  *equal contribution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6C45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arXiv:2603.15257</a:t>
            </a:r>
            <a:endParaRPr lang="en-US" sz="1100" dirty="0"/>
          </a:p>
        </p:txBody>
      </p:sp>
      <p:pic>
        <p:nvPicPr>
          <p:cNvPr id="12" name="Image 3" descr="/tmp/claude-0/deck/assets/hero_j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6952" y="1371600"/>
            <a:ext cx="4023360" cy="46817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44584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44584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738360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38360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0232136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32136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725912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25912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1219688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1968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49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 · THE TROUBLE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86384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Robots see. They don't </a:t>
            </a:r>
            <a:pPr indent="0" marL="0">
              <a:buNone/>
            </a:pPr>
            <a:r>
              <a:rPr lang="en-US" sz="4200" i="1" dirty="0">
                <a:solidFill>
                  <a:srgbClr val="D149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feel.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48640" y="1810512"/>
            <a:ext cx="54406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1495B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130552"/>
            <a:ext cx="731520" cy="731520"/>
          </a:xfrm>
          <a:prstGeom prst="ellipse">
            <a:avLst/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13432"/>
            <a:ext cx="365760" cy="3657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28800" y="213055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Camera-only VLAs</a:t>
            </a:r>
            <a:endParaRPr lang="en-US" sz="30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417320" y="30906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E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See where the egg is</a:t>
            </a:r>
            <a:endParaRPr lang="en-US" sz="1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5760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3593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E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Can't feel how hard they squeeze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868680" y="4187952"/>
            <a:ext cx="4800600" cy="438912"/>
          </a:xfrm>
          <a:prstGeom prst="roundRect">
            <a:avLst>
              <a:gd name="adj" fmla="val 1666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51560" y="4187952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1495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Crushed eggs, crumbled waffles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6199632" y="1810512"/>
            <a:ext cx="54406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1495B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519672" y="2130552"/>
            <a:ext cx="731520" cy="731520"/>
          </a:xfrm>
          <a:prstGeom prst="ellipse">
            <a:avLst/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2313432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479792" y="213055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Tactile sensors</a:t>
            </a:r>
            <a:endParaRPr lang="en-US" sz="30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31546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068312" y="30906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E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Feel every contact</a:t>
            </a:r>
            <a:endParaRPr lang="en-US" sz="17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1112" y="365760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68312" y="3593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E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Costly, and tied to special hardware</a:t>
            </a:r>
            <a:endParaRPr lang="en-US" sz="1700" dirty="0"/>
          </a:p>
        </p:txBody>
      </p:sp>
      <p:sp>
        <p:nvSpPr>
          <p:cNvPr id="32" name="Shape 24"/>
          <p:cNvSpPr/>
          <p:nvPr/>
        </p:nvSpPr>
        <p:spPr>
          <a:xfrm>
            <a:off x="6519672" y="4187952"/>
            <a:ext cx="4800600" cy="438912"/>
          </a:xfrm>
          <a:prstGeom prst="roundRect">
            <a:avLst>
              <a:gd name="adj" fmla="val 1666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6702552" y="4187952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1495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 to put on every robot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13892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What if a robot could learn the feel… </a:t>
            </a:r>
            <a:pPr indent="0" marL="0">
              <a:buNone/>
            </a:pPr>
            <a:r>
              <a:rPr lang="en-US" sz="3400" i="1" dirty="0">
                <a:solidFill>
                  <a:srgbClr val="2F6DB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and leave the sensors behind?</a:t>
            </a:r>
            <a:endParaRPr lang="en-US" sz="34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1908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E9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HapticVLA  ·  IROS 2026  ·  Pittsburgh</a:t>
            </a:r>
            <a:endParaRPr lang="en-US" sz="900" dirty="0"/>
          </a:p>
        </p:txBody>
      </p:sp>
      <p:pic>
        <p:nvPicPr>
          <p:cNvPr id="36" name="Image 6" descr="/tmp/claude-0/deck/assets/skoltech_dar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71632" y="6437376"/>
            <a:ext cx="868680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44584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44584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738360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38360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0232136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32136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725912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25912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1219688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1968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D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· ONE IDEA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86384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Touch in </a:t>
            </a:r>
            <a:pPr indent="0" marL="0">
              <a:buNone/>
            </a:pPr>
            <a:r>
              <a:rPr lang="en-US" sz="4200" i="1" dirty="0">
                <a:solidFill>
                  <a:srgbClr val="2F6DB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training.</a:t>
            </a:r>
            <a:pPr indent="0" marL="0">
              <a:buNone/>
            </a:pPr>
            <a:r>
              <a:rPr lang="en-US" sz="4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Not in deployment.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48640" y="1810512"/>
            <a:ext cx="5120640" cy="338328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2F6DB5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20848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F6D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TRAINING  ·  IN THE LAB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23774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robot can feel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868680" y="3136392"/>
            <a:ext cx="1426464" cy="960120"/>
          </a:xfrm>
          <a:prstGeom prst="roundRect">
            <a:avLst>
              <a:gd name="adj" fmla="val 9524"/>
            </a:avLst>
          </a:prstGeom>
          <a:solidFill>
            <a:srgbClr val="F7F6F2"/>
          </a:solidFill>
          <a:ln w="12700">
            <a:solidFill>
              <a:srgbClr val="E2DFD8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32" y="3282696"/>
            <a:ext cx="365760" cy="3657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68680" y="370332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E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Vision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86584" y="3136392"/>
            <a:ext cx="1426464" cy="960120"/>
          </a:xfrm>
          <a:prstGeom prst="roundRect">
            <a:avLst>
              <a:gd name="adj" fmla="val 9524"/>
            </a:avLst>
          </a:prstGeom>
          <a:solidFill>
            <a:srgbClr val="F7F6F2"/>
          </a:solidFill>
          <a:ln w="12700">
            <a:solidFill>
              <a:srgbClr val="E2DFD8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936" y="3282696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386584" y="370332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E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Language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3904488" y="3136392"/>
            <a:ext cx="1426464" cy="960120"/>
          </a:xfrm>
          <a:prstGeom prst="roundRect">
            <a:avLst>
              <a:gd name="adj" fmla="val 9524"/>
            </a:avLst>
          </a:prstGeom>
          <a:solidFill>
            <a:srgbClr val="EFEAFA"/>
          </a:solidFill>
          <a:ln w="12700">
            <a:solidFill>
              <a:srgbClr val="7B5CC4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3282696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3904488" y="370332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5C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Touch</a:t>
            </a:r>
            <a:endParaRPr lang="en-US" sz="1400" dirty="0"/>
          </a:p>
        </p:txBody>
      </p:sp>
      <p:pic>
        <p:nvPicPr>
          <p:cNvPr id="26" name="Image 3" descr="/tmp/claude-0/deck/assets/tactile_m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97680"/>
            <a:ext cx="658368" cy="65836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709928" y="429768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0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200 taxels on two fingertips score every grasp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19672" y="1810512"/>
            <a:ext cx="5120640" cy="338328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2F6DB5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6839712" y="20848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F6D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DEPLOYMENT  ·  ANYWHERE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839712" y="23774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Cameras are enough</a:t>
            </a:r>
            <a:endParaRPr lang="en-US" sz="3200" dirty="0"/>
          </a:p>
        </p:txBody>
      </p:sp>
      <p:sp>
        <p:nvSpPr>
          <p:cNvPr id="31" name="Shape 25"/>
          <p:cNvSpPr/>
          <p:nvPr/>
        </p:nvSpPr>
        <p:spPr>
          <a:xfrm>
            <a:off x="6839712" y="3136392"/>
            <a:ext cx="1426464" cy="960120"/>
          </a:xfrm>
          <a:prstGeom prst="roundRect">
            <a:avLst>
              <a:gd name="adj" fmla="val 9524"/>
            </a:avLst>
          </a:prstGeom>
          <a:solidFill>
            <a:srgbClr val="F7F6F2"/>
          </a:solidFill>
          <a:ln w="12700">
            <a:solidFill>
              <a:srgbClr val="E2DFD8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0064" y="3282696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839712" y="370332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E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Vision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8357616" y="3136392"/>
            <a:ext cx="1426464" cy="960120"/>
          </a:xfrm>
          <a:prstGeom prst="roundRect">
            <a:avLst>
              <a:gd name="adj" fmla="val 9524"/>
            </a:avLst>
          </a:prstGeom>
          <a:solidFill>
            <a:srgbClr val="F7F6F2"/>
          </a:solidFill>
          <a:ln w="12700">
            <a:solidFill>
              <a:srgbClr val="E2DFD8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282696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357616" y="370332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E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Language</a:t>
            </a:r>
            <a:endParaRPr lang="en-US" sz="1400" dirty="0"/>
          </a:p>
        </p:txBody>
      </p:sp>
      <p:sp>
        <p:nvSpPr>
          <p:cNvPr id="37" name="Shape 29"/>
          <p:cNvSpPr/>
          <p:nvPr/>
        </p:nvSpPr>
        <p:spPr>
          <a:xfrm>
            <a:off x="9875520" y="3136392"/>
            <a:ext cx="142646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6C7CA"/>
            </a:solidFill>
            <a:prstDash val="dash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5872" y="3282696"/>
            <a:ext cx="365760" cy="3657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875520" y="370332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3A6A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touch</a:t>
            </a:r>
            <a:endParaRPr lang="en-US" sz="1400" dirty="0"/>
          </a:p>
        </p:txBody>
      </p:sp>
      <p:sp>
        <p:nvSpPr>
          <p:cNvPr id="40" name="Shape 31"/>
          <p:cNvSpPr/>
          <p:nvPr/>
        </p:nvSpPr>
        <p:spPr>
          <a:xfrm>
            <a:off x="6839712" y="4297680"/>
            <a:ext cx="658368" cy="658368"/>
          </a:xfrm>
          <a:prstGeom prst="ellipse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6872" y="4434840"/>
            <a:ext cx="384048" cy="384048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7680960" y="429768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0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camera-only robot runs the same small model</a:t>
            </a:r>
            <a:endParaRPr lang="en-US" sz="1500" dirty="0"/>
          </a:p>
        </p:txBody>
      </p:sp>
      <p:sp>
        <p:nvSpPr>
          <p:cNvPr id="43" name="Shape 33"/>
          <p:cNvSpPr/>
          <p:nvPr/>
        </p:nvSpPr>
        <p:spPr>
          <a:xfrm>
            <a:off x="5811012" y="3200400"/>
            <a:ext cx="585216" cy="585216"/>
          </a:xfrm>
          <a:prstGeom prst="ellipse">
            <a:avLst/>
          </a:prstGeom>
          <a:solidFill>
            <a:srgbClr val="2F6DB5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39028" y="3328416"/>
            <a:ext cx="329184" cy="329184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C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Touch becomes a teacher, </a:t>
            </a:r>
            <a:pPr indent="0" marL="0">
              <a:buNone/>
            </a:pPr>
            <a:r>
              <a:rPr lang="en-US" sz="2000" dirty="0">
                <a:solidFill>
                  <a:srgbClr val="1A1C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a part you have to install.</a:t>
            </a:r>
            <a:endParaRPr lang="en-US" sz="2000" dirty="0"/>
          </a:p>
        </p:txBody>
      </p:sp>
      <p:sp>
        <p:nvSpPr>
          <p:cNvPr id="46" name="Text 35"/>
          <p:cNvSpPr txBox="1"/>
          <p:nvPr/>
        </p:nvSpPr>
        <p:spPr>
          <a:xfrm>
            <a:off x="548640" y="641908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E9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HapticVLA  ·  IROS 2026  ·  Pittsburgh</a:t>
            </a:r>
            <a:endParaRPr lang="en-US" sz="900" dirty="0"/>
          </a:p>
        </p:txBody>
      </p:sp>
      <p:pic>
        <p:nvPicPr>
          <p:cNvPr id="47" name="Image 9" descr="/tmp/claude-0/deck/assets/skoltech_dar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71632" y="6437376"/>
            <a:ext cx="868680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44584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44584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738360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38360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0232136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F9D8A"/>
          </a:solidFill>
          <a:ln w="12700">
            <a:solidFill>
              <a:srgbClr val="1F9D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32136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725912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25912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1219688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1968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9D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 · USE TOUCH AS A REWARD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86384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Use touch as a </a:t>
            </a:r>
            <a:pPr indent="0" marL="0">
              <a:buNone/>
            </a:pPr>
            <a:r>
              <a:rPr lang="en-US" sz="4200" i="1" dirty="0">
                <a:solidFill>
                  <a:srgbClr val="1F9D8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reward.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48640" y="1783080"/>
            <a:ext cx="11091672" cy="35204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1F9D8A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pic>
        <p:nvPicPr>
          <p:cNvPr id="15" name="Image 0" descr="/tmp/claude-0/deck/assets/meth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9195" y="1920240"/>
            <a:ext cx="8790562" cy="324612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48640" y="5486400"/>
            <a:ext cx="3575304" cy="749808"/>
          </a:xfrm>
          <a:prstGeom prst="roundRect">
            <a:avLst>
              <a:gd name="adj" fmla="val 12195"/>
            </a:avLst>
          </a:prstGeom>
          <a:solidFill>
            <a:srgbClr val="E2F3F0"/>
          </a:solidFill>
          <a:ln w="12700">
            <a:solidFill>
              <a:srgbClr val="E2F3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13232" y="5669280"/>
            <a:ext cx="384048" cy="384048"/>
          </a:xfrm>
          <a:prstGeom prst="ellipse">
            <a:avLst/>
          </a:prstGeom>
          <a:solidFill>
            <a:srgbClr val="1F9D8A"/>
          </a:solidFill>
          <a:ln w="12700">
            <a:solidFill>
              <a:srgbClr val="1F9D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13232" y="5669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5541264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9D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Score.</a:t>
            </a:r>
            <a:pPr indent="0" marL="0">
              <a:buNone/>
            </a:pPr>
            <a:r>
              <a:rPr lang="en-US" sz="1350" dirty="0">
                <a:solidFill>
                  <a:srgbClr val="1A1C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Fingertips rate every moment of every demo.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306824" y="5486400"/>
            <a:ext cx="3575304" cy="749808"/>
          </a:xfrm>
          <a:prstGeom prst="roundRect">
            <a:avLst>
              <a:gd name="adj" fmla="val 12195"/>
            </a:avLst>
          </a:prstGeom>
          <a:solidFill>
            <a:srgbClr val="E2F3F0"/>
          </a:solidFill>
          <a:ln w="12700">
            <a:solidFill>
              <a:srgbClr val="E2F3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71416" y="5669280"/>
            <a:ext cx="384048" cy="384048"/>
          </a:xfrm>
          <a:prstGeom prst="ellipse">
            <a:avLst/>
          </a:prstGeom>
          <a:solidFill>
            <a:srgbClr val="1F9D8A"/>
          </a:solidFill>
          <a:ln w="12700">
            <a:solidFill>
              <a:srgbClr val="1F9D8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71416" y="5669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4992624" y="5541264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9D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Penalize.</a:t>
            </a:r>
            <a:pPr indent="0" marL="0">
              <a:buNone/>
            </a:pPr>
            <a:r>
              <a:rPr lang="en-US" sz="1350" dirty="0">
                <a:solidFill>
                  <a:srgbClr val="1A1C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Over-force, slip, unsafe pressure lose weight.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065008" y="5486400"/>
            <a:ext cx="3575304" cy="749808"/>
          </a:xfrm>
          <a:prstGeom prst="roundRect">
            <a:avLst>
              <a:gd name="adj" fmla="val 12195"/>
            </a:avLst>
          </a:prstGeom>
          <a:solidFill>
            <a:srgbClr val="E2F3F0"/>
          </a:solidFill>
          <a:ln w="12700">
            <a:solidFill>
              <a:srgbClr val="E2F3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29600" y="5669280"/>
            <a:ext cx="384048" cy="384048"/>
          </a:xfrm>
          <a:prstGeom prst="ellipse">
            <a:avLst/>
          </a:prstGeom>
          <a:solidFill>
            <a:srgbClr val="1F9D8A"/>
          </a:solidFill>
          <a:ln w="12700">
            <a:solidFill>
              <a:srgbClr val="1F9D8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0" y="5669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3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8750808" y="5541264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9D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Reward.</a:t>
            </a:r>
            <a:pPr indent="0" marL="0">
              <a:buNone/>
            </a:pPr>
            <a:r>
              <a:rPr lang="en-US" sz="1350" dirty="0">
                <a:solidFill>
                  <a:srgbClr val="1A1C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Gentle, successful moves count more.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41908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E9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HapticVLA  ·  IROS 2026  ·  Pittsburgh</a:t>
            </a:r>
            <a:endParaRPr lang="en-US" sz="900" dirty="0"/>
          </a:p>
        </p:txBody>
      </p:sp>
      <p:pic>
        <p:nvPicPr>
          <p:cNvPr id="29" name="Image 1" descr="/tmp/claude-0/deck/assets/skoltech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6437376"/>
            <a:ext cx="868680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44584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44584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738360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38360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0232136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32136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725912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7B5CC4"/>
          </a:solidFill>
          <a:ln w="12700">
            <a:solidFill>
              <a:srgbClr val="7B5C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25912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1219688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1968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B5C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 · CUT THE SENSORS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86384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Cut the sensors. It gets </a:t>
            </a:r>
            <a:pPr indent="0" marL="0">
              <a:buNone/>
            </a:pPr>
            <a:r>
              <a:rPr lang="en-US" sz="4200" i="1" dirty="0">
                <a:solidFill>
                  <a:srgbClr val="7B5CC4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better.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48640" y="1810512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7B5CC4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2130552"/>
            <a:ext cx="731520" cy="731520"/>
          </a:xfrm>
          <a:prstGeom prst="ellipse">
            <a:avLst/>
          </a:prstGeom>
          <a:solidFill>
            <a:srgbClr val="EFEAFA"/>
          </a:solidFill>
          <a:ln w="12700">
            <a:solidFill>
              <a:srgbClr val="EFEAFA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13432"/>
            <a:ext cx="365760" cy="3657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783080" y="201168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5C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TEACHER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783080" y="224942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SmolVLA + touch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1783080" y="27249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Feels. Labels all the data once, offline.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3822192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EFEAFA"/>
          </a:solidFill>
          <a:ln w="12700">
            <a:solidFill>
              <a:srgbClr val="7B5CC4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22960" y="41422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FEAF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325112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783080" y="402336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5C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STUDENT  =  HapticVLA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783080" y="426110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Same SmolVLA, no touch</a:t>
            </a:r>
            <a:endParaRPr lang="en-US" sz="2800" dirty="0"/>
          </a:p>
        </p:txBody>
      </p:sp>
      <p:sp>
        <p:nvSpPr>
          <p:cNvPr id="25" name="Text 21"/>
          <p:cNvSpPr txBox="1"/>
          <p:nvPr/>
        </p:nvSpPr>
        <p:spPr>
          <a:xfrm>
            <a:off x="1783080" y="47365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Cameras + joint angles only. Still 0.45B.</a:t>
            </a:r>
            <a:endParaRPr lang="en-US" sz="13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310128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508760" y="3291840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5C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learns from 50 / 50: human demos + teacher actions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5943600" y="1810512"/>
            <a:ext cx="5696712" cy="338328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6217920" y="1993392"/>
            <a:ext cx="5148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0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MEAN SUCCESS  ·  3 REAL-WORLD TASKS</a:t>
            </a:r>
            <a:endParaRPr lang="en-US" sz="10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080760" y="2286000"/>
          <a:ext cx="5422392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1" name="Shape 25"/>
          <p:cNvSpPr/>
          <p:nvPr/>
        </p:nvSpPr>
        <p:spPr>
          <a:xfrm>
            <a:off x="548640" y="544068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EFEAFA"/>
          </a:solidFill>
          <a:ln w="12700">
            <a:solidFill>
              <a:srgbClr val="EFEAF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32704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325880" y="5440680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student that can't feel </a:t>
            </a:r>
            <a:pPr indent="0" marL="0">
              <a:buNone/>
            </a:pPr>
            <a:r>
              <a:rPr lang="en-US" sz="2700" i="1" dirty="0">
                <a:solidFill>
                  <a:srgbClr val="7B5CC4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beats</a:t>
            </a:r>
            <a:pPr indent="0" marL="0">
              <a:buNone/>
            </a:pPr>
            <a:r>
              <a:rPr lang="en-US" sz="27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the teacher that can.</a:t>
            </a:r>
            <a:endParaRPr lang="en-US" sz="2700" dirty="0"/>
          </a:p>
        </p:txBody>
      </p:sp>
      <p:sp>
        <p:nvSpPr>
          <p:cNvPr id="34" name="Text 27"/>
          <p:cNvSpPr txBox="1"/>
          <p:nvPr/>
        </p:nvSpPr>
        <p:spPr>
          <a:xfrm>
            <a:off x="8778240" y="544068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B5C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86.7%  vs  75.0%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548640" y="641908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E9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HapticVLA  ·  teacher = SmolVLA + SA-RWFM with tactile input  ·  student = Tactile Distillation</a:t>
            </a:r>
            <a:endParaRPr lang="en-US" sz="900" dirty="0"/>
          </a:p>
        </p:txBody>
      </p:sp>
      <p:pic>
        <p:nvPicPr>
          <p:cNvPr id="36" name="Image 4" descr="/tmp/claude-0/deck/assets/skoltech_d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71632" y="6437376"/>
            <a:ext cx="868680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44584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44584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738360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38360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0232136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32136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725912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25912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B9B6A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1219688" y="42062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3862E"/>
          </a:solidFill>
          <a:ln w="12700">
            <a:solidFill>
              <a:srgbClr val="E386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1968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86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 · HOLD THE EGG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86384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Hold the </a:t>
            </a:r>
            <a:pPr indent="0" marL="0">
              <a:buNone/>
            </a:pPr>
            <a:r>
              <a:rPr lang="en-US" sz="4200" i="1" dirty="0">
                <a:solidFill>
                  <a:srgbClr val="E3862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egg.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48640" y="1810512"/>
            <a:ext cx="5943600" cy="3438144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12700">
            <a:solidFill>
              <a:srgbClr val="E3862E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pic>
        <p:nvPicPr>
          <p:cNvPr id="15" name="Image 0" descr="/tmp/claude-0/deck/assets/egg_dem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20240"/>
            <a:ext cx="5724144" cy="321868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95528" y="4681728"/>
            <a:ext cx="2331720" cy="310896"/>
          </a:xfrm>
          <a:prstGeom prst="roundRect">
            <a:avLst>
              <a:gd name="adj" fmla="val 17647"/>
            </a:avLst>
          </a:prstGeom>
          <a:solidFill>
            <a:srgbClr val="1A1C20">
              <a:alpha val="80000"/>
            </a:srgbClr>
          </a:solidFill>
          <a:ln w="12700">
            <a:solidFill>
              <a:srgbClr val="1A1C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" y="46817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REAL ROBOT  ·  EGG TASK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720840" y="1810512"/>
            <a:ext cx="4919472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pic>
        <p:nvPicPr>
          <p:cNvPr id="19" name="Image 1" descr="/tmp/claude-0/deck/assets/thumb_j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920240"/>
            <a:ext cx="786384" cy="7863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772400" y="19293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Jar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0" y="237744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0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Deformable, keep its shape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875520" y="208483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8A8E9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50%</a:t>
            </a:r>
            <a:endParaRPr lang="en-US" sz="15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2203704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725912" y="1975104"/>
            <a:ext cx="868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75%</a:t>
            </a:r>
            <a:endParaRPr lang="en-US" sz="3600" dirty="0"/>
          </a:p>
        </p:txBody>
      </p:sp>
      <p:sp>
        <p:nvSpPr>
          <p:cNvPr id="25" name="Shape 20"/>
          <p:cNvSpPr/>
          <p:nvPr/>
        </p:nvSpPr>
        <p:spPr>
          <a:xfrm>
            <a:off x="6720840" y="3026664"/>
            <a:ext cx="4919472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pic>
        <p:nvPicPr>
          <p:cNvPr id="26" name="Image 3" descr="/tmp/claude-0/deck/assets/thumb_waffl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3136392"/>
            <a:ext cx="786384" cy="78638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31455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Waffles</a:t>
            </a:r>
            <a:endParaRPr lang="en-US" sz="26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3593592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0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Fragile, no cracks or crumbs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875520" y="330098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8A8E9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70%</a:t>
            </a:r>
            <a:endParaRPr lang="en-US" sz="15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0" y="3419856"/>
            <a:ext cx="219456" cy="21945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0725912" y="3191256"/>
            <a:ext cx="868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90%</a:t>
            </a:r>
            <a:endParaRPr lang="en-US" sz="3600" dirty="0"/>
          </a:p>
        </p:txBody>
      </p:sp>
      <p:sp>
        <p:nvSpPr>
          <p:cNvPr id="32" name="Shape 25"/>
          <p:cNvSpPr/>
          <p:nvPr/>
        </p:nvSpPr>
        <p:spPr>
          <a:xfrm>
            <a:off x="6720840" y="4242816"/>
            <a:ext cx="4919472" cy="1005840"/>
          </a:xfrm>
          <a:prstGeom prst="roundRect">
            <a:avLst>
              <a:gd name="adj" fmla="val 12727"/>
            </a:avLst>
          </a:prstGeom>
          <a:solidFill>
            <a:srgbClr val="FDF1E3"/>
          </a:solidFill>
          <a:ln w="19050">
            <a:solidFill>
              <a:srgbClr val="E3862E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8000"/>
              </a:srgbClr>
            </a:outerShdw>
          </a:effectLst>
        </p:spPr>
      </p:sp>
      <p:pic>
        <p:nvPicPr>
          <p:cNvPr id="33" name="Image 5" descr="/tmp/claude-0/deck/assets/thumb_eg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0568" y="4352544"/>
            <a:ext cx="786384" cy="7863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772400" y="4361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Egg</a:t>
            </a:r>
            <a:endParaRPr lang="en-US" sz="2600" dirty="0"/>
          </a:p>
        </p:txBody>
      </p:sp>
      <p:sp>
        <p:nvSpPr>
          <p:cNvPr id="35" name="Text 27"/>
          <p:cNvSpPr txBox="1"/>
          <p:nvPr/>
        </p:nvSpPr>
        <p:spPr>
          <a:xfrm>
            <a:off x="7772400" y="480974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0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 of the carton, onto the tray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9875520" y="451713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8A8E9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50%</a:t>
            </a:r>
            <a:endParaRPr lang="en-US" sz="150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4636008"/>
            <a:ext cx="219456" cy="219456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725912" y="4407408"/>
            <a:ext cx="868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E3862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95%</a:t>
            </a:r>
            <a:endParaRPr lang="en-US" sz="3600" dirty="0"/>
          </a:p>
        </p:txBody>
      </p:sp>
      <p:sp>
        <p:nvSpPr>
          <p:cNvPr id="39" name="Shape 30"/>
          <p:cNvSpPr/>
          <p:nvPr/>
        </p:nvSpPr>
        <p:spPr>
          <a:xfrm>
            <a:off x="548640" y="5468112"/>
            <a:ext cx="3575304" cy="731520"/>
          </a:xfrm>
          <a:prstGeom prst="roundRect">
            <a:avLst>
              <a:gd name="adj" fmla="val 12500"/>
            </a:avLst>
          </a:prstGeom>
          <a:solidFill>
            <a:srgbClr val="E3862E"/>
          </a:solidFill>
          <a:ln w="12700">
            <a:solidFill>
              <a:srgbClr val="E3862E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77240" y="546811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86.7%</a:t>
            </a:r>
            <a:endParaRPr lang="en-US" sz="3200" dirty="0"/>
          </a:p>
        </p:txBody>
      </p:sp>
      <p:sp>
        <p:nvSpPr>
          <p:cNvPr id="41" name="Text 32"/>
          <p:cNvSpPr txBox="1"/>
          <p:nvPr/>
        </p:nvSpPr>
        <p:spPr>
          <a:xfrm>
            <a:off x="2377440" y="5468112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F0E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HapticVLA, mean success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4306824" y="5468112"/>
            <a:ext cx="3575304" cy="731520"/>
          </a:xfrm>
          <a:prstGeom prst="roundRect">
            <a:avLst>
              <a:gd name="adj" fmla="val 12500"/>
            </a:avLst>
          </a:prstGeom>
          <a:solidFill>
            <a:srgbClr val="FDF1E3"/>
          </a:solidFill>
          <a:ln w="12700">
            <a:solidFill>
              <a:srgbClr val="FDF1E3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4535424" y="546811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+30 pts</a:t>
            </a:r>
            <a:endParaRPr lang="en-US" sz="3200" dirty="0"/>
          </a:p>
        </p:txBody>
      </p:sp>
      <p:sp>
        <p:nvSpPr>
          <p:cNvPr id="44" name="Text 35"/>
          <p:cNvSpPr txBox="1"/>
          <p:nvPr/>
        </p:nvSpPr>
        <p:spPr>
          <a:xfrm>
            <a:off x="6135624" y="5468112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0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vs. the base model</a:t>
            </a:r>
            <a:endParaRPr lang="en-US" sz="1050" dirty="0"/>
          </a:p>
        </p:txBody>
      </p:sp>
      <p:sp>
        <p:nvSpPr>
          <p:cNvPr id="45" name="Shape 36"/>
          <p:cNvSpPr/>
          <p:nvPr/>
        </p:nvSpPr>
        <p:spPr>
          <a:xfrm>
            <a:off x="8065008" y="5468112"/>
            <a:ext cx="3575304" cy="731520"/>
          </a:xfrm>
          <a:prstGeom prst="roundRect">
            <a:avLst>
              <a:gd name="adj" fmla="val 12500"/>
            </a:avLst>
          </a:prstGeom>
          <a:solidFill>
            <a:srgbClr val="FDF1E3"/>
          </a:solidFill>
          <a:ln w="12700">
            <a:solidFill>
              <a:srgbClr val="FDF1E3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8293608" y="546811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C2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</a:t>
            </a:r>
            <a:endParaRPr lang="en-US" sz="3200" dirty="0"/>
          </a:p>
        </p:txBody>
      </p:sp>
      <p:sp>
        <p:nvSpPr>
          <p:cNvPr id="47" name="Text 38"/>
          <p:cNvSpPr txBox="1"/>
          <p:nvPr/>
        </p:nvSpPr>
        <p:spPr>
          <a:xfrm>
            <a:off x="9893808" y="5468112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0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tactile sensors at deployment</a:t>
            </a:r>
            <a:endParaRPr lang="en-US" sz="1050" dirty="0"/>
          </a:p>
        </p:txBody>
      </p:sp>
      <p:sp>
        <p:nvSpPr>
          <p:cNvPr id="48" name="Text 39"/>
          <p:cNvSpPr txBox="1"/>
          <p:nvPr/>
        </p:nvSpPr>
        <p:spPr>
          <a:xfrm>
            <a:off x="548640" y="641908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E9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 real-robot trials per task  ·  success = object intact and on target</a:t>
            </a:r>
            <a:endParaRPr lang="en-US" sz="900" dirty="0"/>
          </a:p>
        </p:txBody>
      </p:sp>
      <p:pic>
        <p:nvPicPr>
          <p:cNvPr id="49" name="Image 7" descr="/tmp/claude-0/deck/assets/skoltech_dar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71632" y="6437376"/>
            <a:ext cx="868680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6C45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6800" dirty="0">
                <a:solidFill>
                  <a:srgbClr val="F6C45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Train with touch.</a:t>
            </a:r>
            <a:endParaRPr lang="en-US" sz="6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Deploy without it.</a:t>
            </a:r>
            <a:endParaRPr lang="en-US" sz="6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6C7C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Touch can be a training-time modality. The distilled policy runs on any camera-only robot, at no extra inference cost.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553712"/>
            <a:ext cx="3703320" cy="566928"/>
          </a:xfrm>
          <a:prstGeom prst="roundRect">
            <a:avLst>
              <a:gd name="adj" fmla="val 50000"/>
            </a:avLst>
          </a:prstGeom>
          <a:solidFill>
            <a:srgbClr val="F6C453"/>
          </a:solidFill>
          <a:ln w="12700">
            <a:solidFill>
              <a:srgbClr val="F6C45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55371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Come see the robot at our poster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16952" y="1417320"/>
            <a:ext cx="1188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tmp/claude-0/deck/assets/qr_proj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104" y="1490472"/>
            <a:ext cx="1042416" cy="10424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525512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6C45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Project page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9034272" y="1417320"/>
            <a:ext cx="1188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/tmp/claude-0/deck/assets/qr_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7424" y="1490472"/>
            <a:ext cx="1042416" cy="10424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942832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6C45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Video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10451592" y="1417320"/>
            <a:ext cx="1188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/tmp/claude-0/deck/assets/qr_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4744" y="1490472"/>
            <a:ext cx="1042416" cy="10424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360152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6C45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Code + data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7616952" y="3310128"/>
            <a:ext cx="4023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6C45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PAPER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arXiv:2603.15257</a:t>
            </a:r>
            <a:endParaRPr lang="en-US" sz="1000" dirty="0"/>
          </a:p>
          <a:p>
            <a:pPr indent="0" marL="0">
              <a:lnSpc>
                <a:spcPct val="125000"/>
              </a:lnSpc>
              <a:spcBef>
                <a:spcPts val="800"/>
              </a:spcBef>
              <a:buNone/>
            </a:pPr>
            <a:r>
              <a:rPr lang="en-US" sz="1000" b="1" dirty="0">
                <a:solidFill>
                  <a:srgbClr val="F6C45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CODE + DATASET + DIGITAL TWIN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github.com/Advanced-Robotic-Manipulation/crab</a:t>
            </a:r>
            <a:endParaRPr lang="en-US" sz="1000" dirty="0"/>
          </a:p>
          <a:p>
            <a:pPr indent="0" marL="0">
              <a:lnSpc>
                <a:spcPct val="125000"/>
              </a:lnSpc>
              <a:spcBef>
                <a:spcPts val="800"/>
              </a:spcBef>
              <a:buNone/>
            </a:pPr>
            <a:r>
              <a:rPr lang="en-US" sz="1000" b="1" dirty="0">
                <a:solidFill>
                  <a:srgbClr val="F6C45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MODELS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huggingface.co/armteam</a:t>
            </a:r>
            <a:endParaRPr lang="en-US" sz="1000" dirty="0"/>
          </a:p>
        </p:txBody>
      </p:sp>
      <p:pic>
        <p:nvPicPr>
          <p:cNvPr id="17" name="Image 3" descr="/tmp/claude-0/deck/assets/skoltech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70448"/>
            <a:ext cx="1645920" cy="277063"/>
          </a:xfrm>
          <a:prstGeom prst="rect">
            <a:avLst/>
          </a:prstGeom>
        </p:spPr>
      </p:pic>
      <p:pic>
        <p:nvPicPr>
          <p:cNvPr id="18" name="Image 4" descr="/tmp/claude-0/deck/assets/yandex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600" y="5907024"/>
            <a:ext cx="1783080" cy="207569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4617720" y="5669280"/>
            <a:ext cx="10058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0" name="Image 5" descr="/tmp/claude-0/deck/assets/iro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2584" y="5710428"/>
            <a:ext cx="896112" cy="58155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675120" y="5806440"/>
            <a:ext cx="4965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C7C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Intelligent Space Robotics Laboratory, Skoltech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HapticVLA — IROS 2026 Lightning Talk</dc:title>
  <dc:subject>PptxGenJS Presentation</dc:subject>
  <dc:creator>Gubernatorov, Sannikov, Mikhalchuk, et al. — Skoltech</dc:creator>
  <cp:lastModifiedBy>Gubernatorov, Sannikov, Mikhalchuk, et al. — Skoltech</cp:lastModifiedBy>
  <cp:revision>1</cp:revision>
  <dcterms:created xsi:type="dcterms:W3CDTF">2026-09-27T16:00:41Z</dcterms:created>
  <dcterms:modified xsi:type="dcterms:W3CDTF">2026-09-27T16:00:41Z</dcterms:modified>
</cp:coreProperties>
</file>