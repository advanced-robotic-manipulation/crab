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success</c:v>
                </c:pt>
              </c:strCache>
            </c:strRef>
          </c:tx>
          <c:spPr>
            <a:solidFill>
              <a:srgbClr val="AFAFAF"/>
            </a:solidFill>
            <a:effectLst/>
          </c:spPr>
          <c:invertIfNegative val="0"/>
          <c:dLbls>
            <c:numFmt formatCode="0.0&quot;%&quot;" sourceLinked="0"/>
            <c:txPr>
              <a:bodyPr/>
              <a:lstStyle/>
              <a:p>
                <a:pPr>
                  <a:defRPr b="1" i="0" strike="noStrike" sz="1600" u="none">
                    <a:solidFill>
                      <a:srgbClr val="1A1C20"/>
                    </a:solidFill>
                    <a:latin typeface="IBM Plex Sans"/>
                  </a:defRPr>
                </a:pPr>
              </a:p>
            </c:txPr>
            <c:showLegendKey val="0"/>
            <c:showVal val="1"/>
            <c:showCatName val="0"/>
            <c:showSerName val="0"/>
            <c:showPercent val="0"/>
            <c:showBubbleSize val="0"/>
            <c:showLeaderLines val="0"/>
          </c:dLbls>
          <c:dPt>
            <c:idx val="0"/>
            <c:invertIfNegative val="0"/>
            <c:bubble3D val="0"/>
            <c:spPr>
              <a:solidFill>
                <a:srgbClr val="AFAFAF"/>
              </a:solidFill>
              <a:effectLst/>
            </c:spPr>
          </c:dPt>
          <c:dPt>
            <c:idx val="1"/>
            <c:invertIfNegative val="0"/>
            <c:bubble3D val="0"/>
            <c:spPr>
              <a:solidFill>
                <a:srgbClr val="629BC4"/>
              </a:solidFill>
              <a:effectLst/>
            </c:spPr>
          </c:dPt>
          <c:dPt>
            <c:idx val="2"/>
            <c:invertIfNegative val="0"/>
            <c:bubble3D val="0"/>
            <c:spPr>
              <a:solidFill>
                <a:srgbClr val="E89B56"/>
              </a:solidFill>
              <a:effectLst/>
            </c:spPr>
          </c:dPt>
          <c:cat>
            <c:multiLvlStrRef>
              <c:f>Sheet1!$A$2:$A$4</c:f>
              <c:multiLvlStrCache>
                <c:ptCount val="3"/>
                <c:lvl>
                  <c:pt idx="0">
                    <c:v>Base model</c:v>
                  </c:pt>
                  <c:pt idx="1">
                    <c:v>Teacher (feels)</c:v>
                  </c:pt>
                  <c:pt idx="2">
                    <c:v>Student (no touch)</c:v>
                  </c:pt>
                </c:lvl>
              </c:multiLvlStrCache>
            </c:multiLvlStrRef>
          </c:cat>
          <c:val>
            <c:numRef>
              <c:f>Sheet1!$B$2:$B$4</c:f>
              <c:numCache>
                <c:formatCode>General</c:formatCode>
                <c:ptCount val="3"/>
                <c:pt idx="0">
                  <c:v>56.7</c:v>
                </c:pt>
                <c:pt idx="1">
                  <c:v>75</c:v>
                </c:pt>
                <c:pt idx="2">
                  <c:v>86.7</c:v>
                </c:pt>
              </c:numCache>
            </c:numRef>
          </c:val>
        </c:ser>
        <c:dLbls>
          <c:numFmt formatCode="0.0&quot;%&quot;" sourceLinked="0"/>
          <c:txPr>
            <a:bodyPr/>
            <a:lstStyle/>
            <a:p>
              <a:pPr>
                <a:defRPr b="1" i="0" strike="noStrike" sz="1600" u="none">
                  <a:solidFill>
                    <a:srgbClr val="1A1C20"/>
                  </a:solidFill>
                  <a:latin typeface="IBM Plex Sans"/>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2DFD8"/>
            </a:solidFill>
            <a:prstDash val="solid"/>
            <a:round/>
          </a:ln>
        </c:spPr>
        <c:txPr>
          <a:bodyPr/>
          <a:lstStyle/>
          <a:p>
            <a:pPr>
              <a:defRPr sz="1300" b="0" i="0" u="none" strike="noStrike">
                <a:solidFill>
                  <a:srgbClr val="3A3E45"/>
                </a:solidFill>
                <a:latin typeface="IBM Plex Sans"/>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MAP — spell T·O·U·C·H (one letter per slide; the tiles top-right show where you are):
T = Trouble · O = One idea · U = Use touch as a reward · C = Cut the sensors · H = Hold the egg
Story thread: you open with an egg and you close with the egg.
TIMING: 2:50 total, including the chair's intro. 30-second warning at 2:20 → you should be on H (the egg slide) by then. Hard cut at 3:00.
SAY (~10 s):
"Hand a robot an egg. Will it crack it? Our robot learned to be gentle — and at deployment, it doesn't even need to feel the egg."
BRIDGE → T: "Here's the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 TROUBLE  (≈ 0:10 → 0:30)
CUE: two cards = two bad options. Left: cameras can't feel. Right: sensors cost.
SAY:
"Here's the trouble. Vision-language-action models only see. A camera shows where the egg is — not how hard you're squeezing it. So they crush fragile things. The classic fix is tactile sensors — but they're expensive, and they tie your policy to special hardware."
KEYWORDS: see, not feel → crush · sensors → cost + special hardware
BRIDGE → O: just read the bottom line: "What if a robot could learn the feel — and leave the sensors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 ONE IDEA  (≈ 0:30 → 0:50)
CUE: left panel = the lab (robot feels), right panel = anywhere (cameras only). Point left, then right.
SAY:
"That's our one idea: touch at training time, not at deployment. We learn on a robot that can feel — then ship a policy that needs only cameras. Touch becomes a teacher, not a part you have to install."
KEYWORDS: lab → anywhere · touch = teacher
BRIDGE → U: "It takes two steps. Step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 — USE TOUCH AS A REWARD  (≈ 0:50 → 1:25)
CUE: the figure is the whole architecture. Big blue bar = SmolVLA's vision-language model; right box = action expert (outputs the motions). GREEN dashed box = the tactile reward (this slide). PURPLE dashed box = distillation (next slide).
Then read the three chips left → right: Score → Penalize → Reward.
MEMORY HOOK: Goldilocks grip: not too hard, not too loose, no slipping.
SAY:
"Step one: use touch as a reward. We start from SmolVLA — a small vision-language model plus an action expert that outputs motions. Offline, the fingertip sensors score every moment of every demo. Too hard, too loose, or slipping — penalty. Gentle and successful — bonus. We even recorded failures on purpose, so it learns what 'too hard' looks like. The action expert then learns more from the gentle moves, and less from the crushing ones."
OPTIONAL NAME-DROP: "We call it Safety-Aware Reward-Weighted Flow Matching."
FROM THE PAPER: 310 demos = 240 successful + 70 deliberate failures (object damaged by too much force). The failures get negative reward and "sharpen" what safe looks like.
BRIDGE → C: "The purple box is step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 CUT THE SENSORS  (≈ 1:25 → 1:55)
CUE: top card = teacher → arrow → bottom card = student. Chart climbs grey → blue → orange.
MEMORY TRICK: 57 → 75 is the same two digits flipped. Then +12 more → 87.
SAY:
"Step two: cut the sensors. The touch-trained teacher labels the data once, offline. The student — the same small model, with no tactile input — learns from a 50/50 mix of demos and teacher actions. And here's the twist: the student that can't feel beats the teacher that can — 86.7 versus 75 percent."
PAUSE for a beat after the twist.
ONE-LINER IF ASKED WHY: "It learns to act as if it could feel. The teacher's actions already carry the touch."
BRIDGE → H: click, then open with "And yes — it holds the egg."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 — HOLD THE EGG  (≈ 1:55 → 2:25)   ← the 30-second warning lands around here
CUE: rows climb 75 → 90 → 95 top to bottom, ending on the egg. Bottom tiles: 86.7 · +30 · 0.
SAY:
"And yes — it holds the egg. Real robot, three delicate tasks, 20 trials each. Jar: 50 to 75 percent. Waffles: 70 to 90. And the egg: 50 to 95. That's plus 30 points on average — with zero tactile sensors and no extra compute at deployment."
IF SHORT ON TIME: say only "Egg: 50 to 95. Plus 30 points on average, zero sensors." and move on.
BRIDGE → close: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2:25 → 2:35) — stop talking by 2:45 at the latest.
SAY:
"Train with touch — deploy without it. Code, data and models are open: scan the QR codes, and come see the robot at our poster. Thank you!"
(If you know your poster board number, say it here.)
────────
POSTER Q&amp;A PREP (not for the stage):
• Other VLAs: X-VLA (0.9B, big cross-embodiment pretraining) and VLA-0 (bigger; beat SmolVLA on SO-101 before) were fine-tuned on the same data and scored 0% on all three tasks. The paper reads this as a failure to generalize to high-precision, contact-rich tasks.
• Tactile at inference: the best teacher variant (async) reached 81.7%, still below the sensor-free student's 86.7%. Async hurts because tactile readings and actions drift out of sync (latency).
• Reward terms: over-force, under-force while holding, peak pressure, pressure concentration, left/right pad asymmetry, slip (centre-of-pressure jump or sudden force drop). Episode reward = step reward + success − drop − damage − risk. Thresholds are calibrated from dataset quantiles.
• Weighting: advantage A = 0.7·episode + 0.3·chunk score (robust z-scores); weight = exp(0.25·A) clipped to [0.25, 4]; an L2 anchor keeps weights near the imitation model to avoid drift.
• Distillation: the student is initialised from the teacher minus the tactile encoder (state projection sliced 134 → 6); it trains on 0.5·demo + 0.5·teacher action chunks; no architecture change.
• Data: 310 real episodes (Jar and Waffles: 70 good + 20 failed each; bimanual Egg: 100 + 30).
• Hardware: two LeRobot SO-101 arms; right arm has 12 V servos and a parallel gripper with a 10×10 taxel array per finger (200 taxels, 1–9 N, 120 Hz; sensors from Prof. Kajimoto's lab). RealSense D435 + IMX335 wrist cams, 640×480. Everything runs on a Jetson Orin NX 16 GB.
• Closest prior work: FD-VLA distils FORCE (from joint/force sensors) into a token; Gano et al. pre-train with low-fidelity tactile, then drop it (not a VLA). HapticVLA does it for TOUCH, inside a VLA, with a safety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gif"/><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57200"/>
            <a:ext cx="6400800" cy="274320"/>
          </a:xfrm>
          <a:prstGeom prst="rect">
            <a:avLst/>
          </a:prstGeom>
          <a:noFill/>
          <a:ln/>
        </p:spPr>
        <p:txBody>
          <a:bodyPr wrap="square" lIns="0" tIns="0" rIns="0" bIns="0" rtlCol="0" anchor="ctr"/>
          <a:lstStyle/>
          <a:p>
            <a:pPr indent="0" marL="0">
              <a:buNone/>
            </a:pPr>
            <a:r>
              <a:rPr lang="en-US" sz="1200" b="1" spc="300" kern="0" dirty="0">
                <a:solidFill>
                  <a:srgbClr val="F6C453"/>
                </a:solidFill>
                <a:latin typeface="JetBrains Mono" pitchFamily="34" charset="0"/>
                <a:ea typeface="JetBrains Mono" pitchFamily="34" charset="-122"/>
                <a:cs typeface="JetBrains Mono" pitchFamily="34" charset="-120"/>
              </a:rPr>
              <a:t>IEEE/RSJ IROS 2026  ·  PITTSBURGH</a:t>
            </a:r>
            <a:endParaRPr lang="en-US" sz="1200" dirty="0"/>
          </a:p>
        </p:txBody>
      </p:sp>
      <p:pic>
        <p:nvPicPr>
          <p:cNvPr id="3" name="Image 0" descr="/tmp/claude-0/deck/assets/skoltech_white.png">    </p:cNvPr>
          <p:cNvPicPr>
            <a:picLocks noChangeAspect="1"/>
          </p:cNvPicPr>
          <p:nvPr/>
        </p:nvPicPr>
        <p:blipFill>
          <a:blip r:embed="rId2"/>
          <a:stretch>
            <a:fillRect/>
          </a:stretch>
        </p:blipFill>
        <p:spPr>
          <a:xfrm>
            <a:off x="8686800" y="365760"/>
            <a:ext cx="1783080" cy="299923"/>
          </a:xfrm>
          <a:prstGeom prst="rect">
            <a:avLst/>
          </a:prstGeom>
        </p:spPr>
      </p:pic>
      <p:pic>
        <p:nvPicPr>
          <p:cNvPr id="4" name="Image 1" descr="/tmp/claude-0/deck/assets/yandex_white.png">    </p:cNvPr>
          <p:cNvPicPr>
            <a:picLocks noChangeAspect="1"/>
          </p:cNvPicPr>
          <p:nvPr/>
        </p:nvPicPr>
        <p:blipFill>
          <a:blip r:embed="rId3"/>
          <a:stretch>
            <a:fillRect/>
          </a:stretch>
        </p:blipFill>
        <p:spPr>
          <a:xfrm>
            <a:off x="8686800" y="768096"/>
            <a:ext cx="1783080" cy="207569"/>
          </a:xfrm>
          <a:prstGeom prst="rect">
            <a:avLst/>
          </a:prstGeom>
        </p:spPr>
      </p:pic>
      <p:sp>
        <p:nvSpPr>
          <p:cNvPr id="5" name="Shape 1"/>
          <p:cNvSpPr/>
          <p:nvPr/>
        </p:nvSpPr>
        <p:spPr>
          <a:xfrm>
            <a:off x="10634472" y="329184"/>
            <a:ext cx="1005840" cy="694944"/>
          </a:xfrm>
          <a:prstGeom prst="roundRect">
            <a:avLst>
              <a:gd name="adj" fmla="val 7895"/>
            </a:avLst>
          </a:prstGeom>
          <a:solidFill>
            <a:srgbClr val="FFFFFF"/>
          </a:solidFill>
          <a:ln w="6350">
            <a:solidFill>
              <a:srgbClr val="FFFFFF"/>
            </a:solidFill>
            <a:prstDash val="solid"/>
          </a:ln>
        </p:spPr>
      </p:sp>
      <p:pic>
        <p:nvPicPr>
          <p:cNvPr id="6" name="Image 2" descr="/tmp/claude-0/deck/assets/iros.png">    </p:cNvPr>
          <p:cNvPicPr>
            <a:picLocks noChangeAspect="1"/>
          </p:cNvPicPr>
          <p:nvPr/>
        </p:nvPicPr>
        <p:blipFill>
          <a:blip r:embed="rId4"/>
          <a:stretch>
            <a:fillRect/>
          </a:stretch>
        </p:blipFill>
        <p:spPr>
          <a:xfrm>
            <a:off x="10689336" y="370332"/>
            <a:ext cx="896112" cy="581558"/>
          </a:xfrm>
          <a:prstGeom prst="rect">
            <a:avLst/>
          </a:prstGeom>
        </p:spPr>
      </p:pic>
      <p:sp>
        <p:nvSpPr>
          <p:cNvPr id="7" name="Text 2"/>
          <p:cNvSpPr txBox="1"/>
          <p:nvPr/>
        </p:nvSpPr>
        <p:spPr>
          <a:xfrm>
            <a:off x="548640" y="1417320"/>
            <a:ext cx="6766560" cy="1234440"/>
          </a:xfrm>
          <a:prstGeom prst="rect">
            <a:avLst/>
          </a:prstGeom>
          <a:noFill/>
          <a:ln/>
        </p:spPr>
        <p:txBody>
          <a:bodyPr wrap="square" lIns="0" tIns="0" rIns="0" bIns="0" rtlCol="0" anchor="ctr"/>
          <a:lstStyle/>
          <a:p>
            <a:pPr indent="0" marL="0">
              <a:buNone/>
            </a:pPr>
            <a:r>
              <a:rPr lang="en-US" sz="9200" dirty="0">
                <a:solidFill>
                  <a:srgbClr val="F6C453"/>
                </a:solidFill>
                <a:latin typeface="Instrument Serif" pitchFamily="34" charset="0"/>
                <a:ea typeface="Instrument Serif" pitchFamily="34" charset="-122"/>
                <a:cs typeface="Instrument Serif" pitchFamily="34" charset="-120"/>
              </a:rPr>
              <a:t>HapticVLA</a:t>
            </a:r>
            <a:endParaRPr lang="en-US" sz="9200" dirty="0"/>
          </a:p>
        </p:txBody>
      </p:sp>
      <p:sp>
        <p:nvSpPr>
          <p:cNvPr id="8" name="Text 3"/>
          <p:cNvSpPr txBox="1"/>
          <p:nvPr/>
        </p:nvSpPr>
        <p:spPr>
          <a:xfrm>
            <a:off x="548640" y="2724912"/>
            <a:ext cx="6583680" cy="1417320"/>
          </a:xfrm>
          <a:prstGeom prst="rect">
            <a:avLst/>
          </a:prstGeom>
          <a:noFill/>
          <a:ln/>
        </p:spPr>
        <p:txBody>
          <a:bodyPr wrap="square" lIns="0" tIns="0" rIns="0" bIns="0" rtlCol="0" anchor="t"/>
          <a:lstStyle/>
          <a:p>
            <a:pPr indent="0" marL="0">
              <a:lnSpc>
                <a:spcPct val="105000"/>
              </a:lnSpc>
              <a:buNone/>
            </a:pPr>
            <a:r>
              <a:rPr lang="en-US" sz="3000" dirty="0">
                <a:solidFill>
                  <a:srgbClr val="FFFFFF"/>
                </a:solidFill>
                <a:latin typeface="Instrument Serif" pitchFamily="34" charset="0"/>
                <a:ea typeface="Instrument Serif" pitchFamily="34" charset="-122"/>
                <a:cs typeface="Instrument Serif" pitchFamily="34" charset="-120"/>
              </a:rPr>
              <a:t>Contact-Rich Manipulation via</a:t>
            </a:r>
            <a:endParaRPr lang="en-US" sz="3000" dirty="0"/>
          </a:p>
          <a:p>
            <a:pPr indent="0" marL="0">
              <a:lnSpc>
                <a:spcPct val="105000"/>
              </a:lnSpc>
              <a:buNone/>
            </a:pPr>
            <a:r>
              <a:rPr lang="en-US" sz="3000" dirty="0">
                <a:solidFill>
                  <a:srgbClr val="FFFFFF"/>
                </a:solidFill>
                <a:latin typeface="Instrument Serif" pitchFamily="34" charset="0"/>
                <a:ea typeface="Instrument Serif" pitchFamily="34" charset="-122"/>
                <a:cs typeface="Instrument Serif" pitchFamily="34" charset="-120"/>
              </a:rPr>
              <a:t>Vision-Language-Action Model without</a:t>
            </a:r>
            <a:endParaRPr lang="en-US" sz="3000" dirty="0"/>
          </a:p>
          <a:p>
            <a:pPr indent="0" marL="0">
              <a:lnSpc>
                <a:spcPct val="105000"/>
              </a:lnSpc>
              <a:buNone/>
            </a:pPr>
            <a:r>
              <a:rPr lang="en-US" sz="3000" dirty="0">
                <a:solidFill>
                  <a:srgbClr val="FFFFFF"/>
                </a:solidFill>
                <a:latin typeface="Instrument Serif" pitchFamily="34" charset="0"/>
                <a:ea typeface="Instrument Serif" pitchFamily="34" charset="-122"/>
                <a:cs typeface="Instrument Serif" pitchFamily="34" charset="-120"/>
              </a:rPr>
              <a:t>Inference-Time Tactile Sensing</a:t>
            </a:r>
            <a:endParaRPr lang="en-US" sz="3000" dirty="0"/>
          </a:p>
        </p:txBody>
      </p:sp>
      <p:sp>
        <p:nvSpPr>
          <p:cNvPr id="9" name="Text 4"/>
          <p:cNvSpPr txBox="1"/>
          <p:nvPr/>
        </p:nvSpPr>
        <p:spPr>
          <a:xfrm>
            <a:off x="548640" y="4343400"/>
            <a:ext cx="6583680" cy="868680"/>
          </a:xfrm>
          <a:prstGeom prst="rect">
            <a:avLst/>
          </a:prstGeom>
          <a:noFill/>
          <a:ln/>
        </p:spPr>
        <p:txBody>
          <a:bodyPr wrap="square" lIns="0" tIns="0" rIns="0" bIns="0" rtlCol="0" anchor="t"/>
          <a:lstStyle/>
          <a:p>
            <a:pPr indent="0" marL="0">
              <a:lnSpc>
                <a:spcPct val="115000"/>
              </a:lnSpc>
              <a:buNone/>
            </a:pPr>
            <a:r>
              <a:rPr lang="en-US" sz="1250" dirty="0">
                <a:solidFill>
                  <a:srgbClr val="EDEDEE"/>
                </a:solidFill>
                <a:latin typeface="IBM Plex Sans" pitchFamily="34" charset="0"/>
                <a:ea typeface="IBM Plex Sans" pitchFamily="34" charset="-122"/>
                <a:cs typeface="IBM Plex Sans" pitchFamily="34" charset="-120"/>
              </a:rPr>
              <a:t>Konstantin Gubernatorov*, </a:t>
            </a:r>
            <a:pPr indent="0" marL="0">
              <a:lnSpc>
                <a:spcPct val="115000"/>
              </a:lnSpc>
              <a:buNone/>
            </a:pPr>
            <a:r>
              <a:rPr lang="en-US" sz="1250" b="1" dirty="0">
                <a:solidFill>
                  <a:srgbClr val="FFFFFF"/>
                </a:solidFill>
                <a:latin typeface="IBM Plex Sans" pitchFamily="34" charset="0"/>
                <a:ea typeface="IBM Plex Sans" pitchFamily="34" charset="-122"/>
                <a:cs typeface="IBM Plex Sans" pitchFamily="34" charset="-120"/>
              </a:rPr>
              <a:t>Mikhail Sannikov*</a:t>
            </a:r>
            <a:pPr indent="0" marL="0">
              <a:lnSpc>
                <a:spcPct val="115000"/>
              </a:lnSpc>
              <a:buNone/>
            </a:pPr>
            <a:r>
              <a:rPr lang="en-US" sz="1250" dirty="0">
                <a:solidFill>
                  <a:srgbClr val="EDEDEE"/>
                </a:solidFill>
                <a:latin typeface="IBM Plex Sans" pitchFamily="34" charset="0"/>
                <a:ea typeface="IBM Plex Sans" pitchFamily="34" charset="-122"/>
                <a:cs typeface="IBM Plex Sans" pitchFamily="34" charset="-120"/>
              </a:rPr>
              <a:t>, Ilya Mikhalchuk*, Egor Kuznetsov, Makar Artemov, Ogunwoye Faith Oluwatobi, Marcelino Julio Fernando, Artem Asanov, Ziang Guo, Dzmitry Tsetserukou</a:t>
            </a:r>
            <a:endParaRPr lang="en-US" sz="1250" dirty="0"/>
          </a:p>
        </p:txBody>
      </p:sp>
      <p:sp>
        <p:nvSpPr>
          <p:cNvPr id="10" name="Text 5"/>
          <p:cNvSpPr txBox="1"/>
          <p:nvPr/>
        </p:nvSpPr>
        <p:spPr>
          <a:xfrm>
            <a:off x="548640" y="5285232"/>
            <a:ext cx="6583680" cy="274320"/>
          </a:xfrm>
          <a:prstGeom prst="rect">
            <a:avLst/>
          </a:prstGeom>
          <a:noFill/>
          <a:ln/>
        </p:spPr>
        <p:txBody>
          <a:bodyPr wrap="square" lIns="0" tIns="0" rIns="0" bIns="0" rtlCol="0" anchor="t"/>
          <a:lstStyle/>
          <a:p>
            <a:pPr indent="0" marL="0">
              <a:buNone/>
            </a:pPr>
            <a:r>
              <a:rPr lang="en-US" sz="1100" dirty="0">
                <a:solidFill>
                  <a:srgbClr val="C6C7CA"/>
                </a:solidFill>
                <a:latin typeface="IBM Plex Sans" pitchFamily="34" charset="0"/>
                <a:ea typeface="IBM Plex Sans" pitchFamily="34" charset="-122"/>
                <a:cs typeface="IBM Plex Sans" pitchFamily="34" charset="-120"/>
              </a:rPr>
              <a:t>Intelligent Space Robotics Laboratory, Skoltech  ·  *equal contribution</a:t>
            </a:r>
            <a:endParaRPr lang="en-US" sz="1100" dirty="0"/>
          </a:p>
        </p:txBody>
      </p:sp>
      <p:sp>
        <p:nvSpPr>
          <p:cNvPr id="11" name="Text 6"/>
          <p:cNvSpPr txBox="1"/>
          <p:nvPr/>
        </p:nvSpPr>
        <p:spPr>
          <a:xfrm>
            <a:off x="548640" y="5989320"/>
            <a:ext cx="3657600" cy="274320"/>
          </a:xfrm>
          <a:prstGeom prst="rect">
            <a:avLst/>
          </a:prstGeom>
          <a:noFill/>
          <a:ln/>
        </p:spPr>
        <p:txBody>
          <a:bodyPr wrap="square" lIns="0" tIns="0" rIns="0" bIns="0" rtlCol="0" anchor="ctr"/>
          <a:lstStyle/>
          <a:p>
            <a:pPr indent="0" marL="0">
              <a:buNone/>
            </a:pPr>
            <a:r>
              <a:rPr lang="en-US" sz="1100" dirty="0">
                <a:solidFill>
                  <a:srgbClr val="F6C453"/>
                </a:solidFill>
                <a:latin typeface="JetBrains Mono" pitchFamily="34" charset="0"/>
                <a:ea typeface="JetBrains Mono" pitchFamily="34" charset="-122"/>
                <a:cs typeface="JetBrains Mono" pitchFamily="34" charset="-120"/>
              </a:rPr>
              <a:t>arXiv:2603.15257</a:t>
            </a:r>
            <a:endParaRPr lang="en-US" sz="1100" dirty="0"/>
          </a:p>
        </p:txBody>
      </p:sp>
      <p:pic>
        <p:nvPicPr>
          <p:cNvPr id="12" name="Image 3" descr="/tmp/claude-0/deck/assets/hero_jar.png">    </p:cNvPr>
          <p:cNvPicPr>
            <a:picLocks noChangeAspect="1"/>
          </p:cNvPicPr>
          <p:nvPr/>
        </p:nvPicPr>
        <p:blipFill>
          <a:blip r:embed="rId5"/>
          <a:stretch>
            <a:fillRect/>
          </a:stretch>
        </p:blipFill>
        <p:spPr>
          <a:xfrm>
            <a:off x="7616952" y="1371600"/>
            <a:ext cx="4023360" cy="46817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C"/>
        </a:solidFill>
      </p:bgPr>
    </p:bg>
    <p:spTree>
      <p:nvGrpSpPr>
        <p:cNvPr id="1" name=""/>
        <p:cNvGrpSpPr/>
        <p:nvPr/>
      </p:nvGrpSpPr>
      <p:grpSpPr>
        <a:xfrm>
          <a:off x="0" y="0"/>
          <a:ext cx="0" cy="0"/>
          <a:chOff x="0" y="0"/>
          <a:chExt cx="0" cy="0"/>
        </a:xfrm>
      </p:grpSpPr>
      <p:sp>
        <p:nvSpPr>
          <p:cNvPr id="2" name="Shape 0"/>
          <p:cNvSpPr/>
          <p:nvPr/>
        </p:nvSpPr>
        <p:spPr>
          <a:xfrm>
            <a:off x="9244584" y="420624"/>
            <a:ext cx="420624" cy="420624"/>
          </a:xfrm>
          <a:prstGeom prst="roundRect">
            <a:avLst>
              <a:gd name="adj" fmla="val 17391"/>
            </a:avLst>
          </a:prstGeom>
          <a:solidFill>
            <a:srgbClr val="D1495B"/>
          </a:solidFill>
          <a:ln w="12700">
            <a:solidFill>
              <a:srgbClr val="D1495B"/>
            </a:solidFill>
            <a:prstDash val="solid"/>
          </a:ln>
        </p:spPr>
      </p:sp>
      <p:sp>
        <p:nvSpPr>
          <p:cNvPr id="3" name="Text 1"/>
          <p:cNvSpPr txBox="1"/>
          <p:nvPr/>
        </p:nvSpPr>
        <p:spPr>
          <a:xfrm>
            <a:off x="9244584" y="420624"/>
            <a:ext cx="420624" cy="420624"/>
          </a:xfrm>
          <a:prstGeom prst="rect">
            <a:avLst/>
          </a:prstGeom>
          <a:noFill/>
          <a:ln/>
        </p:spPr>
        <p:txBody>
          <a:bodyPr wrap="square" lIns="0" tIns="0" rIns="0" bIns="0" rtlCol="0" anchor="ctr"/>
          <a:lstStyle/>
          <a:p>
            <a:pPr algn="ctr" indent="0" marL="0">
              <a:buNone/>
            </a:pPr>
            <a:r>
              <a:rPr lang="en-US" sz="2100" dirty="0">
                <a:solidFill>
                  <a:srgbClr val="FFFFFF"/>
                </a:solidFill>
                <a:latin typeface="Instrument Serif" pitchFamily="34" charset="0"/>
                <a:ea typeface="Instrument Serif" pitchFamily="34" charset="-122"/>
                <a:cs typeface="Instrument Serif" pitchFamily="34" charset="-120"/>
              </a:rPr>
              <a:t>T</a:t>
            </a:r>
            <a:endParaRPr lang="en-US" sz="2100" dirty="0"/>
          </a:p>
        </p:txBody>
      </p:sp>
      <p:sp>
        <p:nvSpPr>
          <p:cNvPr id="4" name="Shape 2"/>
          <p:cNvSpPr/>
          <p:nvPr/>
        </p:nvSpPr>
        <p:spPr>
          <a:xfrm>
            <a:off x="9738360" y="420624"/>
            <a:ext cx="420624" cy="420624"/>
          </a:xfrm>
          <a:prstGeom prst="roundRect">
            <a:avLst>
              <a:gd name="adj" fmla="val 17391"/>
            </a:avLst>
          </a:prstGeom>
          <a:solidFill>
            <a:srgbClr val="FFFFFF"/>
          </a:solidFill>
          <a:ln w="12700">
            <a:solidFill>
              <a:srgbClr val="E2DFD8"/>
            </a:solidFill>
            <a:prstDash val="solid"/>
          </a:ln>
        </p:spPr>
      </p:sp>
      <p:sp>
        <p:nvSpPr>
          <p:cNvPr id="5" name="Text 3"/>
          <p:cNvSpPr txBox="1"/>
          <p:nvPr/>
        </p:nvSpPr>
        <p:spPr>
          <a:xfrm>
            <a:off x="9738360"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O</a:t>
            </a:r>
            <a:endParaRPr lang="en-US" sz="2100" dirty="0"/>
          </a:p>
        </p:txBody>
      </p:sp>
      <p:sp>
        <p:nvSpPr>
          <p:cNvPr id="6" name="Shape 4"/>
          <p:cNvSpPr/>
          <p:nvPr/>
        </p:nvSpPr>
        <p:spPr>
          <a:xfrm>
            <a:off x="10232136" y="420624"/>
            <a:ext cx="420624" cy="420624"/>
          </a:xfrm>
          <a:prstGeom prst="roundRect">
            <a:avLst>
              <a:gd name="adj" fmla="val 17391"/>
            </a:avLst>
          </a:prstGeom>
          <a:solidFill>
            <a:srgbClr val="FFFFFF"/>
          </a:solidFill>
          <a:ln w="12700">
            <a:solidFill>
              <a:srgbClr val="E2DFD8"/>
            </a:solidFill>
            <a:prstDash val="solid"/>
          </a:ln>
        </p:spPr>
      </p:sp>
      <p:sp>
        <p:nvSpPr>
          <p:cNvPr id="7" name="Text 5"/>
          <p:cNvSpPr txBox="1"/>
          <p:nvPr/>
        </p:nvSpPr>
        <p:spPr>
          <a:xfrm>
            <a:off x="10232136"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U</a:t>
            </a:r>
            <a:endParaRPr lang="en-US" sz="2100" dirty="0"/>
          </a:p>
        </p:txBody>
      </p:sp>
      <p:sp>
        <p:nvSpPr>
          <p:cNvPr id="8" name="Shape 6"/>
          <p:cNvSpPr/>
          <p:nvPr/>
        </p:nvSpPr>
        <p:spPr>
          <a:xfrm>
            <a:off x="10725912" y="420624"/>
            <a:ext cx="420624" cy="420624"/>
          </a:xfrm>
          <a:prstGeom prst="roundRect">
            <a:avLst>
              <a:gd name="adj" fmla="val 17391"/>
            </a:avLst>
          </a:prstGeom>
          <a:solidFill>
            <a:srgbClr val="FFFFFF"/>
          </a:solidFill>
          <a:ln w="12700">
            <a:solidFill>
              <a:srgbClr val="E2DFD8"/>
            </a:solidFill>
            <a:prstDash val="solid"/>
          </a:ln>
        </p:spPr>
      </p:sp>
      <p:sp>
        <p:nvSpPr>
          <p:cNvPr id="9" name="Text 7"/>
          <p:cNvSpPr txBox="1"/>
          <p:nvPr/>
        </p:nvSpPr>
        <p:spPr>
          <a:xfrm>
            <a:off x="10725912"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C</a:t>
            </a:r>
            <a:endParaRPr lang="en-US" sz="2100" dirty="0"/>
          </a:p>
        </p:txBody>
      </p:sp>
      <p:sp>
        <p:nvSpPr>
          <p:cNvPr id="10" name="Shape 8"/>
          <p:cNvSpPr/>
          <p:nvPr/>
        </p:nvSpPr>
        <p:spPr>
          <a:xfrm>
            <a:off x="11219688" y="420624"/>
            <a:ext cx="420624" cy="420624"/>
          </a:xfrm>
          <a:prstGeom prst="roundRect">
            <a:avLst>
              <a:gd name="adj" fmla="val 17391"/>
            </a:avLst>
          </a:prstGeom>
          <a:solidFill>
            <a:srgbClr val="FFFFFF"/>
          </a:solidFill>
          <a:ln w="12700">
            <a:solidFill>
              <a:srgbClr val="E2DFD8"/>
            </a:solidFill>
            <a:prstDash val="solid"/>
          </a:ln>
        </p:spPr>
      </p:sp>
      <p:sp>
        <p:nvSpPr>
          <p:cNvPr id="11" name="Text 9"/>
          <p:cNvSpPr txBox="1"/>
          <p:nvPr/>
        </p:nvSpPr>
        <p:spPr>
          <a:xfrm>
            <a:off x="11219688"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H</a:t>
            </a:r>
            <a:endParaRPr lang="en-US" sz="2100" dirty="0"/>
          </a:p>
        </p:txBody>
      </p:sp>
      <p:sp>
        <p:nvSpPr>
          <p:cNvPr id="12" name="Text 10"/>
          <p:cNvSpPr txBox="1"/>
          <p:nvPr/>
        </p:nvSpPr>
        <p:spPr>
          <a:xfrm>
            <a:off x="548640" y="457200"/>
            <a:ext cx="7315200" cy="274320"/>
          </a:xfrm>
          <a:prstGeom prst="rect">
            <a:avLst/>
          </a:prstGeom>
          <a:noFill/>
          <a:ln/>
        </p:spPr>
        <p:txBody>
          <a:bodyPr wrap="square" lIns="0" tIns="0" rIns="0" bIns="0" rtlCol="0" anchor="t"/>
          <a:lstStyle/>
          <a:p>
            <a:pPr indent="0" marL="0">
              <a:buNone/>
            </a:pPr>
            <a:r>
              <a:rPr lang="en-US" sz="1200" b="1" spc="200" kern="0" dirty="0">
                <a:solidFill>
                  <a:srgbClr val="D1495B"/>
                </a:solidFill>
                <a:latin typeface="JetBrains Mono" pitchFamily="34" charset="0"/>
                <a:ea typeface="JetBrains Mono" pitchFamily="34" charset="-122"/>
                <a:cs typeface="JetBrains Mono" pitchFamily="34" charset="-120"/>
              </a:rPr>
              <a:t>T · THE TROUBLE</a:t>
            </a:r>
            <a:endParaRPr lang="en-US" sz="1200" dirty="0"/>
          </a:p>
        </p:txBody>
      </p:sp>
      <p:sp>
        <p:nvSpPr>
          <p:cNvPr id="13" name="Text 11"/>
          <p:cNvSpPr txBox="1"/>
          <p:nvPr/>
        </p:nvSpPr>
        <p:spPr>
          <a:xfrm>
            <a:off x="548640" y="786384"/>
            <a:ext cx="8503920" cy="777240"/>
          </a:xfrm>
          <a:prstGeom prst="rect">
            <a:avLst/>
          </a:prstGeom>
          <a:noFill/>
          <a:ln/>
        </p:spPr>
        <p:txBody>
          <a:bodyPr wrap="square" lIns="0" tIns="0" rIns="0" bIns="0" rtlCol="0" anchor="ctr"/>
          <a:lstStyle/>
          <a:p>
            <a:pPr indent="0" marL="0">
              <a:buNone/>
            </a:pPr>
            <a:r>
              <a:rPr lang="en-US" sz="4200" dirty="0">
                <a:solidFill>
                  <a:srgbClr val="1A1C20"/>
                </a:solidFill>
                <a:latin typeface="Instrument Serif" pitchFamily="34" charset="0"/>
                <a:ea typeface="Instrument Serif" pitchFamily="34" charset="-122"/>
                <a:cs typeface="Instrument Serif" pitchFamily="34" charset="-120"/>
              </a:rPr>
              <a:t>Robots see. They don't </a:t>
            </a:r>
            <a:pPr indent="0" marL="0">
              <a:buNone/>
            </a:pPr>
            <a:r>
              <a:rPr lang="en-US" sz="4200" i="1" dirty="0">
                <a:solidFill>
                  <a:srgbClr val="D1495B"/>
                </a:solidFill>
                <a:latin typeface="Instrument Serif" pitchFamily="34" charset="0"/>
                <a:ea typeface="Instrument Serif" pitchFamily="34" charset="-122"/>
                <a:cs typeface="Instrument Serif" pitchFamily="34" charset="-120"/>
              </a:rPr>
              <a:t>feel.</a:t>
            </a:r>
            <a:endParaRPr lang="en-US" sz="4200" dirty="0"/>
          </a:p>
        </p:txBody>
      </p:sp>
      <p:sp>
        <p:nvSpPr>
          <p:cNvPr id="14" name="Shape 12"/>
          <p:cNvSpPr/>
          <p:nvPr/>
        </p:nvSpPr>
        <p:spPr>
          <a:xfrm>
            <a:off x="548640" y="1810512"/>
            <a:ext cx="5440680" cy="3017520"/>
          </a:xfrm>
          <a:prstGeom prst="roundRect">
            <a:avLst>
              <a:gd name="adj" fmla="val 4242"/>
            </a:avLst>
          </a:prstGeom>
          <a:solidFill>
            <a:srgbClr val="FFFFFF"/>
          </a:solidFill>
          <a:ln w="12700">
            <a:solidFill>
              <a:srgbClr val="D1495B"/>
            </a:solidFill>
            <a:prstDash val="solid"/>
          </a:ln>
          <a:effectLst>
            <a:outerShdw sx="100000" sy="100000" kx="0" ky="0" algn="bl" rotWithShape="0" blurRad="63500" dist="19050" dir="5400000">
              <a:srgbClr val="000000">
                <a:alpha val="8000"/>
              </a:srgbClr>
            </a:outerShdw>
          </a:effectLst>
        </p:spPr>
      </p:sp>
      <p:sp>
        <p:nvSpPr>
          <p:cNvPr id="15" name="Shape 13"/>
          <p:cNvSpPr/>
          <p:nvPr/>
        </p:nvSpPr>
        <p:spPr>
          <a:xfrm>
            <a:off x="868680" y="2130552"/>
            <a:ext cx="731520" cy="731520"/>
          </a:xfrm>
          <a:prstGeom prst="ellipse">
            <a:avLst/>
          </a:prstGeom>
          <a:solidFill>
            <a:srgbClr val="FBE9EC"/>
          </a:solidFill>
          <a:ln w="12700">
            <a:solidFill>
              <a:srgbClr val="FBE9EC"/>
            </a:solidFill>
            <a:prstDash val="solid"/>
          </a:ln>
        </p:spPr>
      </p:sp>
      <p:pic>
        <p:nvPicPr>
          <p:cNvPr id="16" name="Image 0" descr="preencoded.png">    </p:cNvPr>
          <p:cNvPicPr>
            <a:picLocks noChangeAspect="1"/>
          </p:cNvPicPr>
          <p:nvPr/>
        </p:nvPicPr>
        <p:blipFill>
          <a:blip r:embed="rId1"/>
          <a:stretch>
            <a:fillRect/>
          </a:stretch>
        </p:blipFill>
        <p:spPr>
          <a:xfrm>
            <a:off x="1051560" y="2313432"/>
            <a:ext cx="365760" cy="365760"/>
          </a:xfrm>
          <a:prstGeom prst="rect">
            <a:avLst/>
          </a:prstGeom>
        </p:spPr>
      </p:pic>
      <p:sp>
        <p:nvSpPr>
          <p:cNvPr id="17" name="Text 14"/>
          <p:cNvSpPr txBox="1"/>
          <p:nvPr/>
        </p:nvSpPr>
        <p:spPr>
          <a:xfrm>
            <a:off x="1828800" y="2130552"/>
            <a:ext cx="3886200" cy="731520"/>
          </a:xfrm>
          <a:prstGeom prst="rect">
            <a:avLst/>
          </a:prstGeom>
          <a:noFill/>
          <a:ln/>
        </p:spPr>
        <p:txBody>
          <a:bodyPr wrap="square" lIns="0" tIns="0" rIns="0" bIns="0" rtlCol="0" anchor="ctr"/>
          <a:lstStyle/>
          <a:p>
            <a:pPr indent="0" marL="0">
              <a:buNone/>
            </a:pPr>
            <a:r>
              <a:rPr lang="en-US" sz="3000" dirty="0">
                <a:solidFill>
                  <a:srgbClr val="1A1C20"/>
                </a:solidFill>
                <a:latin typeface="Instrument Serif" pitchFamily="34" charset="0"/>
                <a:ea typeface="Instrument Serif" pitchFamily="34" charset="-122"/>
                <a:cs typeface="Instrument Serif" pitchFamily="34" charset="-120"/>
              </a:rPr>
              <a:t>Camera-only VLAs</a:t>
            </a:r>
            <a:endParaRPr lang="en-US" sz="3000" dirty="0"/>
          </a:p>
        </p:txBody>
      </p:sp>
      <p:pic>
        <p:nvPicPr>
          <p:cNvPr id="18" name="Image 1" descr="preencoded.png">    </p:cNvPr>
          <p:cNvPicPr>
            <a:picLocks noChangeAspect="1"/>
          </p:cNvPicPr>
          <p:nvPr/>
        </p:nvPicPr>
        <p:blipFill>
          <a:blip r:embed="rId2"/>
          <a:stretch>
            <a:fillRect/>
          </a:stretch>
        </p:blipFill>
        <p:spPr>
          <a:xfrm>
            <a:off x="960120" y="3154680"/>
            <a:ext cx="274320" cy="274320"/>
          </a:xfrm>
          <a:prstGeom prst="rect">
            <a:avLst/>
          </a:prstGeom>
        </p:spPr>
      </p:pic>
      <p:sp>
        <p:nvSpPr>
          <p:cNvPr id="19" name="Text 15"/>
          <p:cNvSpPr txBox="1"/>
          <p:nvPr/>
        </p:nvSpPr>
        <p:spPr>
          <a:xfrm>
            <a:off x="1417320" y="3090672"/>
            <a:ext cx="4343400" cy="411480"/>
          </a:xfrm>
          <a:prstGeom prst="rect">
            <a:avLst/>
          </a:prstGeom>
          <a:noFill/>
          <a:ln/>
        </p:spPr>
        <p:txBody>
          <a:bodyPr wrap="square" lIns="0" tIns="0" rIns="0" bIns="0" rtlCol="0" anchor="ctr"/>
          <a:lstStyle/>
          <a:p>
            <a:pPr indent="0" marL="0">
              <a:buNone/>
            </a:pPr>
            <a:r>
              <a:rPr lang="en-US" sz="1700" dirty="0">
                <a:solidFill>
                  <a:srgbClr val="3A3E45"/>
                </a:solidFill>
                <a:latin typeface="IBM Plex Sans" pitchFamily="34" charset="0"/>
                <a:ea typeface="IBM Plex Sans" pitchFamily="34" charset="-122"/>
                <a:cs typeface="IBM Plex Sans" pitchFamily="34" charset="-120"/>
              </a:rPr>
              <a:t>See where the egg is</a:t>
            </a:r>
            <a:endParaRPr lang="en-US" sz="1700" dirty="0"/>
          </a:p>
        </p:txBody>
      </p:sp>
      <p:pic>
        <p:nvPicPr>
          <p:cNvPr id="20" name="Image 2" descr="preencoded.png">    </p:cNvPr>
          <p:cNvPicPr>
            <a:picLocks noChangeAspect="1"/>
          </p:cNvPicPr>
          <p:nvPr/>
        </p:nvPicPr>
        <p:blipFill>
          <a:blip r:embed="rId3"/>
          <a:stretch>
            <a:fillRect/>
          </a:stretch>
        </p:blipFill>
        <p:spPr>
          <a:xfrm>
            <a:off x="960120" y="3657600"/>
            <a:ext cx="274320" cy="274320"/>
          </a:xfrm>
          <a:prstGeom prst="rect">
            <a:avLst/>
          </a:prstGeom>
        </p:spPr>
      </p:pic>
      <p:sp>
        <p:nvSpPr>
          <p:cNvPr id="21" name="Text 16"/>
          <p:cNvSpPr txBox="1"/>
          <p:nvPr/>
        </p:nvSpPr>
        <p:spPr>
          <a:xfrm>
            <a:off x="1417320" y="3593592"/>
            <a:ext cx="4343400" cy="411480"/>
          </a:xfrm>
          <a:prstGeom prst="rect">
            <a:avLst/>
          </a:prstGeom>
          <a:noFill/>
          <a:ln/>
        </p:spPr>
        <p:txBody>
          <a:bodyPr wrap="square" lIns="0" tIns="0" rIns="0" bIns="0" rtlCol="0" anchor="ctr"/>
          <a:lstStyle/>
          <a:p>
            <a:pPr indent="0" marL="0">
              <a:buNone/>
            </a:pPr>
            <a:r>
              <a:rPr lang="en-US" sz="1700" dirty="0">
                <a:solidFill>
                  <a:srgbClr val="3A3E45"/>
                </a:solidFill>
                <a:latin typeface="IBM Plex Sans" pitchFamily="34" charset="0"/>
                <a:ea typeface="IBM Plex Sans" pitchFamily="34" charset="-122"/>
                <a:cs typeface="IBM Plex Sans" pitchFamily="34" charset="-120"/>
              </a:rPr>
              <a:t>Can't feel how hard they squeeze</a:t>
            </a:r>
            <a:endParaRPr lang="en-US" sz="1700" dirty="0"/>
          </a:p>
        </p:txBody>
      </p:sp>
      <p:sp>
        <p:nvSpPr>
          <p:cNvPr id="22" name="Shape 17"/>
          <p:cNvSpPr/>
          <p:nvPr/>
        </p:nvSpPr>
        <p:spPr>
          <a:xfrm>
            <a:off x="868680" y="4187952"/>
            <a:ext cx="4800600" cy="438912"/>
          </a:xfrm>
          <a:prstGeom prst="roundRect">
            <a:avLst>
              <a:gd name="adj" fmla="val 16667"/>
            </a:avLst>
          </a:prstGeom>
          <a:solidFill>
            <a:srgbClr val="FBE9EC"/>
          </a:solidFill>
          <a:ln w="12700">
            <a:solidFill>
              <a:srgbClr val="FBE9EC"/>
            </a:solidFill>
            <a:prstDash val="solid"/>
          </a:ln>
        </p:spPr>
      </p:sp>
      <p:sp>
        <p:nvSpPr>
          <p:cNvPr id="23" name="Text 18"/>
          <p:cNvSpPr txBox="1"/>
          <p:nvPr/>
        </p:nvSpPr>
        <p:spPr>
          <a:xfrm>
            <a:off x="1051560" y="4187952"/>
            <a:ext cx="4434840" cy="438912"/>
          </a:xfrm>
          <a:prstGeom prst="rect">
            <a:avLst/>
          </a:prstGeom>
          <a:noFill/>
          <a:ln/>
        </p:spPr>
        <p:txBody>
          <a:bodyPr wrap="square" lIns="0" tIns="0" rIns="0" bIns="0" rtlCol="0" anchor="ctr"/>
          <a:lstStyle/>
          <a:p>
            <a:pPr indent="0" marL="0">
              <a:buNone/>
            </a:pPr>
            <a:r>
              <a:rPr lang="en-US" sz="1600" b="1" dirty="0">
                <a:solidFill>
                  <a:srgbClr val="D1495B"/>
                </a:solidFill>
                <a:latin typeface="IBM Plex Sans" pitchFamily="34" charset="0"/>
                <a:ea typeface="IBM Plex Sans" pitchFamily="34" charset="-122"/>
                <a:cs typeface="IBM Plex Sans" pitchFamily="34" charset="-120"/>
              </a:rPr>
              <a:t>Crushed eggs, crumbled waffles</a:t>
            </a:r>
            <a:endParaRPr lang="en-US" sz="1600" dirty="0"/>
          </a:p>
        </p:txBody>
      </p:sp>
      <p:sp>
        <p:nvSpPr>
          <p:cNvPr id="24" name="Shape 19"/>
          <p:cNvSpPr/>
          <p:nvPr/>
        </p:nvSpPr>
        <p:spPr>
          <a:xfrm>
            <a:off x="6199632" y="1810512"/>
            <a:ext cx="5440680" cy="3017520"/>
          </a:xfrm>
          <a:prstGeom prst="roundRect">
            <a:avLst>
              <a:gd name="adj" fmla="val 4242"/>
            </a:avLst>
          </a:prstGeom>
          <a:solidFill>
            <a:srgbClr val="FFFFFF"/>
          </a:solidFill>
          <a:ln w="12700">
            <a:solidFill>
              <a:srgbClr val="D1495B"/>
            </a:solidFill>
            <a:prstDash val="solid"/>
          </a:ln>
          <a:effectLst>
            <a:outerShdw sx="100000" sy="100000" kx="0" ky="0" algn="bl" rotWithShape="0" blurRad="63500" dist="19050" dir="5400000">
              <a:srgbClr val="000000">
                <a:alpha val="8000"/>
              </a:srgbClr>
            </a:outerShdw>
          </a:effectLst>
        </p:spPr>
      </p:sp>
      <p:sp>
        <p:nvSpPr>
          <p:cNvPr id="25" name="Shape 20"/>
          <p:cNvSpPr/>
          <p:nvPr/>
        </p:nvSpPr>
        <p:spPr>
          <a:xfrm>
            <a:off x="6519672" y="2130552"/>
            <a:ext cx="731520" cy="731520"/>
          </a:xfrm>
          <a:prstGeom prst="ellipse">
            <a:avLst/>
          </a:prstGeom>
          <a:solidFill>
            <a:srgbClr val="FBE9EC"/>
          </a:solidFill>
          <a:ln w="12700">
            <a:solidFill>
              <a:srgbClr val="FBE9EC"/>
            </a:solidFill>
            <a:prstDash val="solid"/>
          </a:ln>
        </p:spPr>
      </p:sp>
      <p:pic>
        <p:nvPicPr>
          <p:cNvPr id="26" name="Image 3" descr="preencoded.png">    </p:cNvPr>
          <p:cNvPicPr>
            <a:picLocks noChangeAspect="1"/>
          </p:cNvPicPr>
          <p:nvPr/>
        </p:nvPicPr>
        <p:blipFill>
          <a:blip r:embed="rId4"/>
          <a:stretch>
            <a:fillRect/>
          </a:stretch>
        </p:blipFill>
        <p:spPr>
          <a:xfrm>
            <a:off x="6702552" y="2313432"/>
            <a:ext cx="365760" cy="365760"/>
          </a:xfrm>
          <a:prstGeom prst="rect">
            <a:avLst/>
          </a:prstGeom>
        </p:spPr>
      </p:pic>
      <p:sp>
        <p:nvSpPr>
          <p:cNvPr id="27" name="Text 21"/>
          <p:cNvSpPr txBox="1"/>
          <p:nvPr/>
        </p:nvSpPr>
        <p:spPr>
          <a:xfrm>
            <a:off x="7479792" y="2130552"/>
            <a:ext cx="3886200" cy="731520"/>
          </a:xfrm>
          <a:prstGeom prst="rect">
            <a:avLst/>
          </a:prstGeom>
          <a:noFill/>
          <a:ln/>
        </p:spPr>
        <p:txBody>
          <a:bodyPr wrap="square" lIns="0" tIns="0" rIns="0" bIns="0" rtlCol="0" anchor="ctr"/>
          <a:lstStyle/>
          <a:p>
            <a:pPr indent="0" marL="0">
              <a:buNone/>
            </a:pPr>
            <a:r>
              <a:rPr lang="en-US" sz="3000" dirty="0">
                <a:solidFill>
                  <a:srgbClr val="1A1C20"/>
                </a:solidFill>
                <a:latin typeface="Instrument Serif" pitchFamily="34" charset="0"/>
                <a:ea typeface="Instrument Serif" pitchFamily="34" charset="-122"/>
                <a:cs typeface="Instrument Serif" pitchFamily="34" charset="-120"/>
              </a:rPr>
              <a:t>Tactile sensors</a:t>
            </a:r>
            <a:endParaRPr lang="en-US" sz="3000" dirty="0"/>
          </a:p>
        </p:txBody>
      </p:sp>
      <p:pic>
        <p:nvPicPr>
          <p:cNvPr id="28" name="Image 4" descr="preencoded.png">    </p:cNvPr>
          <p:cNvPicPr>
            <a:picLocks noChangeAspect="1"/>
          </p:cNvPicPr>
          <p:nvPr/>
        </p:nvPicPr>
        <p:blipFill>
          <a:blip r:embed="rId5"/>
          <a:stretch>
            <a:fillRect/>
          </a:stretch>
        </p:blipFill>
        <p:spPr>
          <a:xfrm>
            <a:off x="6611112" y="3154680"/>
            <a:ext cx="274320" cy="274320"/>
          </a:xfrm>
          <a:prstGeom prst="rect">
            <a:avLst/>
          </a:prstGeom>
        </p:spPr>
      </p:pic>
      <p:sp>
        <p:nvSpPr>
          <p:cNvPr id="29" name="Text 22"/>
          <p:cNvSpPr txBox="1"/>
          <p:nvPr/>
        </p:nvSpPr>
        <p:spPr>
          <a:xfrm>
            <a:off x="7068312" y="3090672"/>
            <a:ext cx="4343400" cy="411480"/>
          </a:xfrm>
          <a:prstGeom prst="rect">
            <a:avLst/>
          </a:prstGeom>
          <a:noFill/>
          <a:ln/>
        </p:spPr>
        <p:txBody>
          <a:bodyPr wrap="square" lIns="0" tIns="0" rIns="0" bIns="0" rtlCol="0" anchor="ctr"/>
          <a:lstStyle/>
          <a:p>
            <a:pPr indent="0" marL="0">
              <a:buNone/>
            </a:pPr>
            <a:r>
              <a:rPr lang="en-US" sz="1700" dirty="0">
                <a:solidFill>
                  <a:srgbClr val="3A3E45"/>
                </a:solidFill>
                <a:latin typeface="IBM Plex Sans" pitchFamily="34" charset="0"/>
                <a:ea typeface="IBM Plex Sans" pitchFamily="34" charset="-122"/>
                <a:cs typeface="IBM Plex Sans" pitchFamily="34" charset="-120"/>
              </a:rPr>
              <a:t>Feel every contact</a:t>
            </a:r>
            <a:endParaRPr lang="en-US" sz="1700" dirty="0"/>
          </a:p>
        </p:txBody>
      </p:sp>
      <p:pic>
        <p:nvPicPr>
          <p:cNvPr id="30" name="Image 5" descr="preencoded.png">    </p:cNvPr>
          <p:cNvPicPr>
            <a:picLocks noChangeAspect="1"/>
          </p:cNvPicPr>
          <p:nvPr/>
        </p:nvPicPr>
        <p:blipFill>
          <a:blip r:embed="rId6"/>
          <a:stretch>
            <a:fillRect/>
          </a:stretch>
        </p:blipFill>
        <p:spPr>
          <a:xfrm>
            <a:off x="6611112" y="3657600"/>
            <a:ext cx="274320" cy="274320"/>
          </a:xfrm>
          <a:prstGeom prst="rect">
            <a:avLst/>
          </a:prstGeom>
        </p:spPr>
      </p:pic>
      <p:sp>
        <p:nvSpPr>
          <p:cNvPr id="31" name="Text 23"/>
          <p:cNvSpPr txBox="1"/>
          <p:nvPr/>
        </p:nvSpPr>
        <p:spPr>
          <a:xfrm>
            <a:off x="7068312" y="3593592"/>
            <a:ext cx="4343400" cy="411480"/>
          </a:xfrm>
          <a:prstGeom prst="rect">
            <a:avLst/>
          </a:prstGeom>
          <a:noFill/>
          <a:ln/>
        </p:spPr>
        <p:txBody>
          <a:bodyPr wrap="square" lIns="0" tIns="0" rIns="0" bIns="0" rtlCol="0" anchor="ctr"/>
          <a:lstStyle/>
          <a:p>
            <a:pPr indent="0" marL="0">
              <a:buNone/>
            </a:pPr>
            <a:r>
              <a:rPr lang="en-US" sz="1700" dirty="0">
                <a:solidFill>
                  <a:srgbClr val="3A3E45"/>
                </a:solidFill>
                <a:latin typeface="IBM Plex Sans" pitchFamily="34" charset="0"/>
                <a:ea typeface="IBM Plex Sans" pitchFamily="34" charset="-122"/>
                <a:cs typeface="IBM Plex Sans" pitchFamily="34" charset="-120"/>
              </a:rPr>
              <a:t>Costly, and tied to special hardware</a:t>
            </a:r>
            <a:endParaRPr lang="en-US" sz="1700" dirty="0"/>
          </a:p>
        </p:txBody>
      </p:sp>
      <p:sp>
        <p:nvSpPr>
          <p:cNvPr id="32" name="Shape 24"/>
          <p:cNvSpPr/>
          <p:nvPr/>
        </p:nvSpPr>
        <p:spPr>
          <a:xfrm>
            <a:off x="6519672" y="4187952"/>
            <a:ext cx="4800600" cy="438912"/>
          </a:xfrm>
          <a:prstGeom prst="roundRect">
            <a:avLst>
              <a:gd name="adj" fmla="val 16667"/>
            </a:avLst>
          </a:prstGeom>
          <a:solidFill>
            <a:srgbClr val="FBE9EC"/>
          </a:solidFill>
          <a:ln w="12700">
            <a:solidFill>
              <a:srgbClr val="FBE9EC"/>
            </a:solidFill>
            <a:prstDash val="solid"/>
          </a:ln>
        </p:spPr>
      </p:sp>
      <p:sp>
        <p:nvSpPr>
          <p:cNvPr id="33" name="Text 25"/>
          <p:cNvSpPr txBox="1"/>
          <p:nvPr/>
        </p:nvSpPr>
        <p:spPr>
          <a:xfrm>
            <a:off x="6702552" y="4187952"/>
            <a:ext cx="4434840" cy="438912"/>
          </a:xfrm>
          <a:prstGeom prst="rect">
            <a:avLst/>
          </a:prstGeom>
          <a:noFill/>
          <a:ln/>
        </p:spPr>
        <p:txBody>
          <a:bodyPr wrap="square" lIns="0" tIns="0" rIns="0" bIns="0" rtlCol="0" anchor="ctr"/>
          <a:lstStyle/>
          <a:p>
            <a:pPr indent="0" marL="0">
              <a:buNone/>
            </a:pPr>
            <a:r>
              <a:rPr lang="en-US" sz="1600" b="1" dirty="0">
                <a:solidFill>
                  <a:srgbClr val="D1495B"/>
                </a:solidFill>
                <a:latin typeface="IBM Plex Sans" pitchFamily="34" charset="0"/>
                <a:ea typeface="IBM Plex Sans" pitchFamily="34" charset="-122"/>
                <a:cs typeface="IBM Plex Sans" pitchFamily="34" charset="-120"/>
              </a:rPr>
              <a:t>Hard to put on every robot</a:t>
            </a:r>
            <a:endParaRPr lang="en-US" sz="1600" dirty="0"/>
          </a:p>
        </p:txBody>
      </p:sp>
      <p:sp>
        <p:nvSpPr>
          <p:cNvPr id="34" name="Text 26"/>
          <p:cNvSpPr txBox="1"/>
          <p:nvPr/>
        </p:nvSpPr>
        <p:spPr>
          <a:xfrm>
            <a:off x="548640" y="5138928"/>
            <a:ext cx="11091672" cy="822960"/>
          </a:xfrm>
          <a:prstGeom prst="rect">
            <a:avLst/>
          </a:prstGeom>
          <a:noFill/>
          <a:ln/>
        </p:spPr>
        <p:txBody>
          <a:bodyPr wrap="square" lIns="0" tIns="0" rIns="0" bIns="0" rtlCol="0" anchor="ctr"/>
          <a:lstStyle/>
          <a:p>
            <a:pPr indent="0" marL="0">
              <a:buNone/>
            </a:pPr>
            <a:r>
              <a:rPr lang="en-US" sz="3400" dirty="0">
                <a:solidFill>
                  <a:srgbClr val="1A1C20"/>
                </a:solidFill>
                <a:latin typeface="Instrument Serif" pitchFamily="34" charset="0"/>
                <a:ea typeface="Instrument Serif" pitchFamily="34" charset="-122"/>
                <a:cs typeface="Instrument Serif" pitchFamily="34" charset="-120"/>
              </a:rPr>
              <a:t>What if a robot could learn the feel… </a:t>
            </a:r>
            <a:pPr indent="0" marL="0">
              <a:buNone/>
            </a:pPr>
            <a:r>
              <a:rPr lang="en-US" sz="3400" i="1" dirty="0">
                <a:solidFill>
                  <a:srgbClr val="2F6DB5"/>
                </a:solidFill>
                <a:latin typeface="Instrument Serif" pitchFamily="34" charset="0"/>
                <a:ea typeface="Instrument Serif" pitchFamily="34" charset="-122"/>
                <a:cs typeface="Instrument Serif" pitchFamily="34" charset="-120"/>
              </a:rPr>
              <a:t>and leave the sensors behind?</a:t>
            </a:r>
            <a:endParaRPr lang="en-US" sz="3400" dirty="0"/>
          </a:p>
        </p:txBody>
      </p:sp>
      <p:sp>
        <p:nvSpPr>
          <p:cNvPr id="35" name="Text 27"/>
          <p:cNvSpPr txBox="1"/>
          <p:nvPr/>
        </p:nvSpPr>
        <p:spPr>
          <a:xfrm>
            <a:off x="548640" y="6419088"/>
            <a:ext cx="7772400" cy="201168"/>
          </a:xfrm>
          <a:prstGeom prst="rect">
            <a:avLst/>
          </a:prstGeom>
          <a:noFill/>
          <a:ln/>
        </p:spPr>
        <p:txBody>
          <a:bodyPr wrap="square" lIns="0" tIns="0" rIns="0" bIns="0" rtlCol="0" anchor="ctr"/>
          <a:lstStyle/>
          <a:p>
            <a:pPr indent="0" marL="0">
              <a:buNone/>
            </a:pPr>
            <a:r>
              <a:rPr lang="en-US" sz="900" dirty="0">
                <a:solidFill>
                  <a:srgbClr val="8A8E95"/>
                </a:solidFill>
                <a:latin typeface="JetBrains Mono" pitchFamily="34" charset="0"/>
                <a:ea typeface="JetBrains Mono" pitchFamily="34" charset="-122"/>
                <a:cs typeface="JetBrains Mono" pitchFamily="34" charset="-120"/>
              </a:rPr>
              <a:t>HapticVLA  ·  IROS 2026  ·  Pittsburgh</a:t>
            </a:r>
            <a:endParaRPr lang="en-US" sz="900" dirty="0"/>
          </a:p>
        </p:txBody>
      </p:sp>
      <p:pic>
        <p:nvPicPr>
          <p:cNvPr id="36" name="Image 6" descr="/tmp/claude-0/deck/assets/skoltech_dark.png">    </p:cNvPr>
          <p:cNvPicPr>
            <a:picLocks noChangeAspect="1"/>
          </p:cNvPicPr>
          <p:nvPr/>
        </p:nvPicPr>
        <p:blipFill>
          <a:blip r:embed="rId7"/>
          <a:stretch>
            <a:fillRect/>
          </a:stretch>
        </p:blipFill>
        <p:spPr>
          <a:xfrm>
            <a:off x="10771632" y="6437376"/>
            <a:ext cx="868680" cy="1463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1EC"/>
        </a:solidFill>
      </p:bgPr>
    </p:bg>
    <p:spTree>
      <p:nvGrpSpPr>
        <p:cNvPr id="1" name=""/>
        <p:cNvGrpSpPr/>
        <p:nvPr/>
      </p:nvGrpSpPr>
      <p:grpSpPr>
        <a:xfrm>
          <a:off x="0" y="0"/>
          <a:ext cx="0" cy="0"/>
          <a:chOff x="0" y="0"/>
          <a:chExt cx="0" cy="0"/>
        </a:xfrm>
      </p:grpSpPr>
      <p:sp>
        <p:nvSpPr>
          <p:cNvPr id="2" name="Shape 0"/>
          <p:cNvSpPr/>
          <p:nvPr/>
        </p:nvSpPr>
        <p:spPr>
          <a:xfrm>
            <a:off x="9244584" y="420624"/>
            <a:ext cx="420624" cy="420624"/>
          </a:xfrm>
          <a:prstGeom prst="roundRect">
            <a:avLst>
              <a:gd name="adj" fmla="val 17391"/>
            </a:avLst>
          </a:prstGeom>
          <a:solidFill>
            <a:srgbClr val="FFFFFF"/>
          </a:solidFill>
          <a:ln w="12700">
            <a:solidFill>
              <a:srgbClr val="E2DFD8"/>
            </a:solidFill>
            <a:prstDash val="solid"/>
          </a:ln>
        </p:spPr>
      </p:sp>
      <p:sp>
        <p:nvSpPr>
          <p:cNvPr id="3" name="Text 1"/>
          <p:cNvSpPr txBox="1"/>
          <p:nvPr/>
        </p:nvSpPr>
        <p:spPr>
          <a:xfrm>
            <a:off x="9244584"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T</a:t>
            </a:r>
            <a:endParaRPr lang="en-US" sz="2100" dirty="0"/>
          </a:p>
        </p:txBody>
      </p:sp>
      <p:sp>
        <p:nvSpPr>
          <p:cNvPr id="4" name="Shape 2"/>
          <p:cNvSpPr/>
          <p:nvPr/>
        </p:nvSpPr>
        <p:spPr>
          <a:xfrm>
            <a:off x="9738360" y="420624"/>
            <a:ext cx="420624" cy="420624"/>
          </a:xfrm>
          <a:prstGeom prst="roundRect">
            <a:avLst>
              <a:gd name="adj" fmla="val 17391"/>
            </a:avLst>
          </a:prstGeom>
          <a:solidFill>
            <a:srgbClr val="2F6DB5"/>
          </a:solidFill>
          <a:ln w="12700">
            <a:solidFill>
              <a:srgbClr val="2F6DB5"/>
            </a:solidFill>
            <a:prstDash val="solid"/>
          </a:ln>
        </p:spPr>
      </p:sp>
      <p:sp>
        <p:nvSpPr>
          <p:cNvPr id="5" name="Text 3"/>
          <p:cNvSpPr txBox="1"/>
          <p:nvPr/>
        </p:nvSpPr>
        <p:spPr>
          <a:xfrm>
            <a:off x="9738360" y="420624"/>
            <a:ext cx="420624" cy="420624"/>
          </a:xfrm>
          <a:prstGeom prst="rect">
            <a:avLst/>
          </a:prstGeom>
          <a:noFill/>
          <a:ln/>
        </p:spPr>
        <p:txBody>
          <a:bodyPr wrap="square" lIns="0" tIns="0" rIns="0" bIns="0" rtlCol="0" anchor="ctr"/>
          <a:lstStyle/>
          <a:p>
            <a:pPr algn="ctr" indent="0" marL="0">
              <a:buNone/>
            </a:pPr>
            <a:r>
              <a:rPr lang="en-US" sz="2100" dirty="0">
                <a:solidFill>
                  <a:srgbClr val="FFFFFF"/>
                </a:solidFill>
                <a:latin typeface="Instrument Serif" pitchFamily="34" charset="0"/>
                <a:ea typeface="Instrument Serif" pitchFamily="34" charset="-122"/>
                <a:cs typeface="Instrument Serif" pitchFamily="34" charset="-120"/>
              </a:rPr>
              <a:t>O</a:t>
            </a:r>
            <a:endParaRPr lang="en-US" sz="2100" dirty="0"/>
          </a:p>
        </p:txBody>
      </p:sp>
      <p:sp>
        <p:nvSpPr>
          <p:cNvPr id="6" name="Shape 4"/>
          <p:cNvSpPr/>
          <p:nvPr/>
        </p:nvSpPr>
        <p:spPr>
          <a:xfrm>
            <a:off x="10232136" y="420624"/>
            <a:ext cx="420624" cy="420624"/>
          </a:xfrm>
          <a:prstGeom prst="roundRect">
            <a:avLst>
              <a:gd name="adj" fmla="val 17391"/>
            </a:avLst>
          </a:prstGeom>
          <a:solidFill>
            <a:srgbClr val="FFFFFF"/>
          </a:solidFill>
          <a:ln w="12700">
            <a:solidFill>
              <a:srgbClr val="E2DFD8"/>
            </a:solidFill>
            <a:prstDash val="solid"/>
          </a:ln>
        </p:spPr>
      </p:sp>
      <p:sp>
        <p:nvSpPr>
          <p:cNvPr id="7" name="Text 5"/>
          <p:cNvSpPr txBox="1"/>
          <p:nvPr/>
        </p:nvSpPr>
        <p:spPr>
          <a:xfrm>
            <a:off x="10232136"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U</a:t>
            </a:r>
            <a:endParaRPr lang="en-US" sz="2100" dirty="0"/>
          </a:p>
        </p:txBody>
      </p:sp>
      <p:sp>
        <p:nvSpPr>
          <p:cNvPr id="8" name="Shape 6"/>
          <p:cNvSpPr/>
          <p:nvPr/>
        </p:nvSpPr>
        <p:spPr>
          <a:xfrm>
            <a:off x="10725912" y="420624"/>
            <a:ext cx="420624" cy="420624"/>
          </a:xfrm>
          <a:prstGeom prst="roundRect">
            <a:avLst>
              <a:gd name="adj" fmla="val 17391"/>
            </a:avLst>
          </a:prstGeom>
          <a:solidFill>
            <a:srgbClr val="FFFFFF"/>
          </a:solidFill>
          <a:ln w="12700">
            <a:solidFill>
              <a:srgbClr val="E2DFD8"/>
            </a:solidFill>
            <a:prstDash val="solid"/>
          </a:ln>
        </p:spPr>
      </p:sp>
      <p:sp>
        <p:nvSpPr>
          <p:cNvPr id="9" name="Text 7"/>
          <p:cNvSpPr txBox="1"/>
          <p:nvPr/>
        </p:nvSpPr>
        <p:spPr>
          <a:xfrm>
            <a:off x="10725912"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C</a:t>
            </a:r>
            <a:endParaRPr lang="en-US" sz="2100" dirty="0"/>
          </a:p>
        </p:txBody>
      </p:sp>
      <p:sp>
        <p:nvSpPr>
          <p:cNvPr id="10" name="Shape 8"/>
          <p:cNvSpPr/>
          <p:nvPr/>
        </p:nvSpPr>
        <p:spPr>
          <a:xfrm>
            <a:off x="11219688" y="420624"/>
            <a:ext cx="420624" cy="420624"/>
          </a:xfrm>
          <a:prstGeom prst="roundRect">
            <a:avLst>
              <a:gd name="adj" fmla="val 17391"/>
            </a:avLst>
          </a:prstGeom>
          <a:solidFill>
            <a:srgbClr val="FFFFFF"/>
          </a:solidFill>
          <a:ln w="12700">
            <a:solidFill>
              <a:srgbClr val="E2DFD8"/>
            </a:solidFill>
            <a:prstDash val="solid"/>
          </a:ln>
        </p:spPr>
      </p:sp>
      <p:sp>
        <p:nvSpPr>
          <p:cNvPr id="11" name="Text 9"/>
          <p:cNvSpPr txBox="1"/>
          <p:nvPr/>
        </p:nvSpPr>
        <p:spPr>
          <a:xfrm>
            <a:off x="11219688"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H</a:t>
            </a:r>
            <a:endParaRPr lang="en-US" sz="2100" dirty="0"/>
          </a:p>
        </p:txBody>
      </p:sp>
      <p:sp>
        <p:nvSpPr>
          <p:cNvPr id="12" name="Text 10"/>
          <p:cNvSpPr txBox="1"/>
          <p:nvPr/>
        </p:nvSpPr>
        <p:spPr>
          <a:xfrm>
            <a:off x="548640" y="457200"/>
            <a:ext cx="7315200" cy="274320"/>
          </a:xfrm>
          <a:prstGeom prst="rect">
            <a:avLst/>
          </a:prstGeom>
          <a:noFill/>
          <a:ln/>
        </p:spPr>
        <p:txBody>
          <a:bodyPr wrap="square" lIns="0" tIns="0" rIns="0" bIns="0" rtlCol="0" anchor="t"/>
          <a:lstStyle/>
          <a:p>
            <a:pPr indent="0" marL="0">
              <a:buNone/>
            </a:pPr>
            <a:r>
              <a:rPr lang="en-US" sz="1200" b="1" spc="200" kern="0" dirty="0">
                <a:solidFill>
                  <a:srgbClr val="2F6DB5"/>
                </a:solidFill>
                <a:latin typeface="JetBrains Mono" pitchFamily="34" charset="0"/>
                <a:ea typeface="JetBrains Mono" pitchFamily="34" charset="-122"/>
                <a:cs typeface="JetBrains Mono" pitchFamily="34" charset="-120"/>
              </a:rPr>
              <a:t>O · ONE IDEA</a:t>
            </a:r>
            <a:endParaRPr lang="en-US" sz="1200" dirty="0"/>
          </a:p>
        </p:txBody>
      </p:sp>
      <p:sp>
        <p:nvSpPr>
          <p:cNvPr id="13" name="Text 11"/>
          <p:cNvSpPr txBox="1"/>
          <p:nvPr/>
        </p:nvSpPr>
        <p:spPr>
          <a:xfrm>
            <a:off x="548640" y="786384"/>
            <a:ext cx="8503920" cy="777240"/>
          </a:xfrm>
          <a:prstGeom prst="rect">
            <a:avLst/>
          </a:prstGeom>
          <a:noFill/>
          <a:ln/>
        </p:spPr>
        <p:txBody>
          <a:bodyPr wrap="square" lIns="0" tIns="0" rIns="0" bIns="0" rtlCol="0" anchor="ctr"/>
          <a:lstStyle/>
          <a:p>
            <a:pPr indent="0" marL="0">
              <a:buNone/>
            </a:pPr>
            <a:r>
              <a:rPr lang="en-US" sz="4200" dirty="0">
                <a:solidFill>
                  <a:srgbClr val="1A1C20"/>
                </a:solidFill>
                <a:latin typeface="Instrument Serif" pitchFamily="34" charset="0"/>
                <a:ea typeface="Instrument Serif" pitchFamily="34" charset="-122"/>
                <a:cs typeface="Instrument Serif" pitchFamily="34" charset="-120"/>
              </a:rPr>
              <a:t>Touch in </a:t>
            </a:r>
            <a:pPr indent="0" marL="0">
              <a:buNone/>
            </a:pPr>
            <a:r>
              <a:rPr lang="en-US" sz="4200" i="1" dirty="0">
                <a:solidFill>
                  <a:srgbClr val="2F6DB5"/>
                </a:solidFill>
                <a:latin typeface="Instrument Serif" pitchFamily="34" charset="0"/>
                <a:ea typeface="Instrument Serif" pitchFamily="34" charset="-122"/>
                <a:cs typeface="Instrument Serif" pitchFamily="34" charset="-120"/>
              </a:rPr>
              <a:t>training.</a:t>
            </a:r>
            <a:pPr indent="0" marL="0">
              <a:buNone/>
            </a:pPr>
            <a:r>
              <a:rPr lang="en-US" sz="4200" dirty="0">
                <a:solidFill>
                  <a:srgbClr val="1A1C20"/>
                </a:solidFill>
                <a:latin typeface="Instrument Serif" pitchFamily="34" charset="0"/>
                <a:ea typeface="Instrument Serif" pitchFamily="34" charset="-122"/>
                <a:cs typeface="Instrument Serif" pitchFamily="34" charset="-120"/>
              </a:rPr>
              <a:t> Not in deployment.</a:t>
            </a:r>
            <a:endParaRPr lang="en-US" sz="4200" dirty="0"/>
          </a:p>
        </p:txBody>
      </p:sp>
      <p:sp>
        <p:nvSpPr>
          <p:cNvPr id="14" name="Shape 12"/>
          <p:cNvSpPr/>
          <p:nvPr/>
        </p:nvSpPr>
        <p:spPr>
          <a:xfrm>
            <a:off x="548640" y="1810512"/>
            <a:ext cx="5120640" cy="3383280"/>
          </a:xfrm>
          <a:prstGeom prst="roundRect">
            <a:avLst>
              <a:gd name="adj" fmla="val 3784"/>
            </a:avLst>
          </a:prstGeom>
          <a:solidFill>
            <a:srgbClr val="FFFFFF"/>
          </a:solidFill>
          <a:ln w="12700">
            <a:solidFill>
              <a:srgbClr val="2F6DB5"/>
            </a:solidFill>
            <a:prstDash val="solid"/>
          </a:ln>
          <a:effectLst>
            <a:outerShdw sx="100000" sy="100000" kx="0" ky="0" algn="bl" rotWithShape="0" blurRad="63500" dist="19050" dir="5400000">
              <a:srgbClr val="000000">
                <a:alpha val="8000"/>
              </a:srgbClr>
            </a:outerShdw>
          </a:effectLst>
        </p:spPr>
      </p:sp>
      <p:sp>
        <p:nvSpPr>
          <p:cNvPr id="15" name="Text 13"/>
          <p:cNvSpPr txBox="1"/>
          <p:nvPr/>
        </p:nvSpPr>
        <p:spPr>
          <a:xfrm>
            <a:off x="868680" y="2084832"/>
            <a:ext cx="4480560" cy="256032"/>
          </a:xfrm>
          <a:prstGeom prst="rect">
            <a:avLst/>
          </a:prstGeom>
          <a:noFill/>
          <a:ln/>
        </p:spPr>
        <p:txBody>
          <a:bodyPr wrap="square" lIns="0" tIns="0" rIns="0" bIns="0" rtlCol="0" anchor="t"/>
          <a:lstStyle/>
          <a:p>
            <a:pPr indent="0" marL="0">
              <a:buNone/>
            </a:pPr>
            <a:r>
              <a:rPr lang="en-US" sz="1100" b="1" spc="150" kern="0" dirty="0">
                <a:solidFill>
                  <a:srgbClr val="2F6DB5"/>
                </a:solidFill>
                <a:latin typeface="JetBrains Mono" pitchFamily="34" charset="0"/>
                <a:ea typeface="JetBrains Mono" pitchFamily="34" charset="-122"/>
                <a:cs typeface="JetBrains Mono" pitchFamily="34" charset="-120"/>
              </a:rPr>
              <a:t>TRAINING  ·  IN THE LAB</a:t>
            </a:r>
            <a:endParaRPr lang="en-US" sz="1100" dirty="0"/>
          </a:p>
        </p:txBody>
      </p:sp>
      <p:sp>
        <p:nvSpPr>
          <p:cNvPr id="16" name="Text 14"/>
          <p:cNvSpPr txBox="1"/>
          <p:nvPr/>
        </p:nvSpPr>
        <p:spPr>
          <a:xfrm>
            <a:off x="868680" y="2377440"/>
            <a:ext cx="4480560" cy="566928"/>
          </a:xfrm>
          <a:prstGeom prst="rect">
            <a:avLst/>
          </a:prstGeom>
          <a:noFill/>
          <a:ln/>
        </p:spPr>
        <p:txBody>
          <a:bodyPr wrap="square" lIns="0" tIns="0" rIns="0" bIns="0" rtlCol="0" anchor="ctr"/>
          <a:lstStyle/>
          <a:p>
            <a:pPr indent="0" marL="0">
              <a:buNone/>
            </a:pPr>
            <a:r>
              <a:rPr lang="en-US" sz="3200" dirty="0">
                <a:solidFill>
                  <a:srgbClr val="1A1C20"/>
                </a:solidFill>
                <a:latin typeface="Instrument Serif" pitchFamily="34" charset="0"/>
                <a:ea typeface="Instrument Serif" pitchFamily="34" charset="-122"/>
                <a:cs typeface="Instrument Serif" pitchFamily="34" charset="-120"/>
              </a:rPr>
              <a:t>The robot can feel</a:t>
            </a:r>
            <a:endParaRPr lang="en-US" sz="3200" dirty="0"/>
          </a:p>
        </p:txBody>
      </p:sp>
      <p:sp>
        <p:nvSpPr>
          <p:cNvPr id="17" name="Shape 15"/>
          <p:cNvSpPr/>
          <p:nvPr/>
        </p:nvSpPr>
        <p:spPr>
          <a:xfrm>
            <a:off x="868680" y="3136392"/>
            <a:ext cx="1426464" cy="960120"/>
          </a:xfrm>
          <a:prstGeom prst="roundRect">
            <a:avLst>
              <a:gd name="adj" fmla="val 9524"/>
            </a:avLst>
          </a:prstGeom>
          <a:solidFill>
            <a:srgbClr val="F7F6F2"/>
          </a:solidFill>
          <a:ln w="12700">
            <a:solidFill>
              <a:srgbClr val="E2DFD8"/>
            </a:solidFill>
            <a:prstDash val="solid"/>
          </a:ln>
        </p:spPr>
      </p:sp>
      <p:pic>
        <p:nvPicPr>
          <p:cNvPr id="18" name="Image 0" descr="preencoded.png">    </p:cNvPr>
          <p:cNvPicPr>
            <a:picLocks noChangeAspect="1"/>
          </p:cNvPicPr>
          <p:nvPr/>
        </p:nvPicPr>
        <p:blipFill>
          <a:blip r:embed="rId1"/>
          <a:stretch>
            <a:fillRect/>
          </a:stretch>
        </p:blipFill>
        <p:spPr>
          <a:xfrm>
            <a:off x="1399032" y="3282696"/>
            <a:ext cx="365760" cy="365760"/>
          </a:xfrm>
          <a:prstGeom prst="rect">
            <a:avLst/>
          </a:prstGeom>
        </p:spPr>
      </p:pic>
      <p:sp>
        <p:nvSpPr>
          <p:cNvPr id="19" name="Text 16"/>
          <p:cNvSpPr txBox="1"/>
          <p:nvPr/>
        </p:nvSpPr>
        <p:spPr>
          <a:xfrm>
            <a:off x="868680" y="3703320"/>
            <a:ext cx="1426464" cy="292608"/>
          </a:xfrm>
          <a:prstGeom prst="rect">
            <a:avLst/>
          </a:prstGeom>
          <a:noFill/>
          <a:ln/>
        </p:spPr>
        <p:txBody>
          <a:bodyPr wrap="square" lIns="0" tIns="0" rIns="0" bIns="0" rtlCol="0" anchor="ctr"/>
          <a:lstStyle/>
          <a:p>
            <a:pPr algn="ctr" indent="0" marL="0">
              <a:buNone/>
            </a:pPr>
            <a:r>
              <a:rPr lang="en-US" sz="1400" b="1" dirty="0">
                <a:solidFill>
                  <a:srgbClr val="3A3E45"/>
                </a:solidFill>
                <a:latin typeface="IBM Plex Sans" pitchFamily="34" charset="0"/>
                <a:ea typeface="IBM Plex Sans" pitchFamily="34" charset="-122"/>
                <a:cs typeface="IBM Plex Sans" pitchFamily="34" charset="-120"/>
              </a:rPr>
              <a:t>Vision</a:t>
            </a:r>
            <a:endParaRPr lang="en-US" sz="1400" dirty="0"/>
          </a:p>
        </p:txBody>
      </p:sp>
      <p:sp>
        <p:nvSpPr>
          <p:cNvPr id="20" name="Shape 17"/>
          <p:cNvSpPr/>
          <p:nvPr/>
        </p:nvSpPr>
        <p:spPr>
          <a:xfrm>
            <a:off x="2386584" y="3136392"/>
            <a:ext cx="1426464" cy="960120"/>
          </a:xfrm>
          <a:prstGeom prst="roundRect">
            <a:avLst>
              <a:gd name="adj" fmla="val 9524"/>
            </a:avLst>
          </a:prstGeom>
          <a:solidFill>
            <a:srgbClr val="F7F6F2"/>
          </a:solidFill>
          <a:ln w="12700">
            <a:solidFill>
              <a:srgbClr val="E2DFD8"/>
            </a:solidFill>
            <a:prstDash val="solid"/>
          </a:ln>
        </p:spPr>
      </p:sp>
      <p:pic>
        <p:nvPicPr>
          <p:cNvPr id="21" name="Image 1" descr="preencoded.png">    </p:cNvPr>
          <p:cNvPicPr>
            <a:picLocks noChangeAspect="1"/>
          </p:cNvPicPr>
          <p:nvPr/>
        </p:nvPicPr>
        <p:blipFill>
          <a:blip r:embed="rId2"/>
          <a:stretch>
            <a:fillRect/>
          </a:stretch>
        </p:blipFill>
        <p:spPr>
          <a:xfrm>
            <a:off x="2916936" y="3282696"/>
            <a:ext cx="365760" cy="365760"/>
          </a:xfrm>
          <a:prstGeom prst="rect">
            <a:avLst/>
          </a:prstGeom>
        </p:spPr>
      </p:pic>
      <p:sp>
        <p:nvSpPr>
          <p:cNvPr id="22" name="Text 18"/>
          <p:cNvSpPr txBox="1"/>
          <p:nvPr/>
        </p:nvSpPr>
        <p:spPr>
          <a:xfrm>
            <a:off x="2386584" y="3703320"/>
            <a:ext cx="1426464" cy="292608"/>
          </a:xfrm>
          <a:prstGeom prst="rect">
            <a:avLst/>
          </a:prstGeom>
          <a:noFill/>
          <a:ln/>
        </p:spPr>
        <p:txBody>
          <a:bodyPr wrap="square" lIns="0" tIns="0" rIns="0" bIns="0" rtlCol="0" anchor="ctr"/>
          <a:lstStyle/>
          <a:p>
            <a:pPr algn="ctr" indent="0" marL="0">
              <a:buNone/>
            </a:pPr>
            <a:r>
              <a:rPr lang="en-US" sz="1400" b="1" dirty="0">
                <a:solidFill>
                  <a:srgbClr val="3A3E45"/>
                </a:solidFill>
                <a:latin typeface="IBM Plex Sans" pitchFamily="34" charset="0"/>
                <a:ea typeface="IBM Plex Sans" pitchFamily="34" charset="-122"/>
                <a:cs typeface="IBM Plex Sans" pitchFamily="34" charset="-120"/>
              </a:rPr>
              <a:t>Language</a:t>
            </a:r>
            <a:endParaRPr lang="en-US" sz="1400" dirty="0"/>
          </a:p>
        </p:txBody>
      </p:sp>
      <p:sp>
        <p:nvSpPr>
          <p:cNvPr id="23" name="Shape 19"/>
          <p:cNvSpPr/>
          <p:nvPr/>
        </p:nvSpPr>
        <p:spPr>
          <a:xfrm>
            <a:off x="3904488" y="3136392"/>
            <a:ext cx="1426464" cy="960120"/>
          </a:xfrm>
          <a:prstGeom prst="roundRect">
            <a:avLst>
              <a:gd name="adj" fmla="val 9524"/>
            </a:avLst>
          </a:prstGeom>
          <a:solidFill>
            <a:srgbClr val="EFEAFA"/>
          </a:solidFill>
          <a:ln w="12700">
            <a:solidFill>
              <a:srgbClr val="7B5CC4"/>
            </a:solidFill>
            <a:prstDash val="solid"/>
          </a:ln>
        </p:spPr>
      </p:sp>
      <p:pic>
        <p:nvPicPr>
          <p:cNvPr id="24" name="Image 2" descr="preencoded.png">    </p:cNvPr>
          <p:cNvPicPr>
            <a:picLocks noChangeAspect="1"/>
          </p:cNvPicPr>
          <p:nvPr/>
        </p:nvPicPr>
        <p:blipFill>
          <a:blip r:embed="rId3"/>
          <a:stretch>
            <a:fillRect/>
          </a:stretch>
        </p:blipFill>
        <p:spPr>
          <a:xfrm>
            <a:off x="4434840" y="3282696"/>
            <a:ext cx="365760" cy="365760"/>
          </a:xfrm>
          <a:prstGeom prst="rect">
            <a:avLst/>
          </a:prstGeom>
        </p:spPr>
      </p:pic>
      <p:sp>
        <p:nvSpPr>
          <p:cNvPr id="25" name="Text 20"/>
          <p:cNvSpPr txBox="1"/>
          <p:nvPr/>
        </p:nvSpPr>
        <p:spPr>
          <a:xfrm>
            <a:off x="3904488" y="3703320"/>
            <a:ext cx="1426464" cy="292608"/>
          </a:xfrm>
          <a:prstGeom prst="rect">
            <a:avLst/>
          </a:prstGeom>
          <a:noFill/>
          <a:ln/>
        </p:spPr>
        <p:txBody>
          <a:bodyPr wrap="square" lIns="0" tIns="0" rIns="0" bIns="0" rtlCol="0" anchor="ctr"/>
          <a:lstStyle/>
          <a:p>
            <a:pPr algn="ctr" indent="0" marL="0">
              <a:buNone/>
            </a:pPr>
            <a:r>
              <a:rPr lang="en-US" sz="1400" b="1" dirty="0">
                <a:solidFill>
                  <a:srgbClr val="7B5CC4"/>
                </a:solidFill>
                <a:latin typeface="IBM Plex Sans" pitchFamily="34" charset="0"/>
                <a:ea typeface="IBM Plex Sans" pitchFamily="34" charset="-122"/>
                <a:cs typeface="IBM Plex Sans" pitchFamily="34" charset="-120"/>
              </a:rPr>
              <a:t>Touch</a:t>
            </a:r>
            <a:endParaRPr lang="en-US" sz="1400" dirty="0"/>
          </a:p>
        </p:txBody>
      </p:sp>
      <p:pic>
        <p:nvPicPr>
          <p:cNvPr id="26" name="Image 3" descr="/tmp/claude-0/deck/assets/tactile_map.png">    </p:cNvPr>
          <p:cNvPicPr>
            <a:picLocks noChangeAspect="1"/>
          </p:cNvPicPr>
          <p:nvPr/>
        </p:nvPicPr>
        <p:blipFill>
          <a:blip r:embed="rId4"/>
          <a:stretch>
            <a:fillRect/>
          </a:stretch>
        </p:blipFill>
        <p:spPr>
          <a:xfrm>
            <a:off x="868680" y="4297680"/>
            <a:ext cx="658368" cy="658368"/>
          </a:xfrm>
          <a:prstGeom prst="rect">
            <a:avLst/>
          </a:prstGeom>
        </p:spPr>
      </p:pic>
      <p:sp>
        <p:nvSpPr>
          <p:cNvPr id="27" name="Text 21"/>
          <p:cNvSpPr txBox="1"/>
          <p:nvPr/>
        </p:nvSpPr>
        <p:spPr>
          <a:xfrm>
            <a:off x="1709928" y="4297680"/>
            <a:ext cx="3657600" cy="658368"/>
          </a:xfrm>
          <a:prstGeom prst="rect">
            <a:avLst/>
          </a:prstGeom>
          <a:noFill/>
          <a:ln/>
        </p:spPr>
        <p:txBody>
          <a:bodyPr wrap="square" lIns="0" tIns="0" rIns="0" bIns="0" rtlCol="0" anchor="ctr"/>
          <a:lstStyle/>
          <a:p>
            <a:pPr indent="0" marL="0">
              <a:buNone/>
            </a:pPr>
            <a:r>
              <a:rPr lang="en-US" sz="1500" dirty="0">
                <a:solidFill>
                  <a:srgbClr val="5B6068"/>
                </a:solidFill>
                <a:latin typeface="IBM Plex Sans" pitchFamily="34" charset="0"/>
                <a:ea typeface="IBM Plex Sans" pitchFamily="34" charset="-122"/>
                <a:cs typeface="IBM Plex Sans" pitchFamily="34" charset="-120"/>
              </a:rPr>
              <a:t>200 taxels on two fingertips score every grasp</a:t>
            </a:r>
            <a:endParaRPr lang="en-US" sz="1500" dirty="0"/>
          </a:p>
        </p:txBody>
      </p:sp>
      <p:sp>
        <p:nvSpPr>
          <p:cNvPr id="28" name="Shape 22"/>
          <p:cNvSpPr/>
          <p:nvPr/>
        </p:nvSpPr>
        <p:spPr>
          <a:xfrm>
            <a:off x="6519672" y="1810512"/>
            <a:ext cx="5120640" cy="3383280"/>
          </a:xfrm>
          <a:prstGeom prst="roundRect">
            <a:avLst>
              <a:gd name="adj" fmla="val 3784"/>
            </a:avLst>
          </a:prstGeom>
          <a:solidFill>
            <a:srgbClr val="FFFFFF"/>
          </a:solidFill>
          <a:ln w="12700">
            <a:solidFill>
              <a:srgbClr val="2F6DB5"/>
            </a:solidFill>
            <a:prstDash val="solid"/>
          </a:ln>
          <a:effectLst>
            <a:outerShdw sx="100000" sy="100000" kx="0" ky="0" algn="bl" rotWithShape="0" blurRad="63500" dist="19050" dir="5400000">
              <a:srgbClr val="000000">
                <a:alpha val="8000"/>
              </a:srgbClr>
            </a:outerShdw>
          </a:effectLst>
        </p:spPr>
      </p:sp>
      <p:sp>
        <p:nvSpPr>
          <p:cNvPr id="29" name="Text 23"/>
          <p:cNvSpPr txBox="1"/>
          <p:nvPr/>
        </p:nvSpPr>
        <p:spPr>
          <a:xfrm>
            <a:off x="6839712" y="2084832"/>
            <a:ext cx="4480560" cy="256032"/>
          </a:xfrm>
          <a:prstGeom prst="rect">
            <a:avLst/>
          </a:prstGeom>
          <a:noFill/>
          <a:ln/>
        </p:spPr>
        <p:txBody>
          <a:bodyPr wrap="square" lIns="0" tIns="0" rIns="0" bIns="0" rtlCol="0" anchor="t"/>
          <a:lstStyle/>
          <a:p>
            <a:pPr indent="0" marL="0">
              <a:buNone/>
            </a:pPr>
            <a:r>
              <a:rPr lang="en-US" sz="1100" b="1" spc="150" kern="0" dirty="0">
                <a:solidFill>
                  <a:srgbClr val="2F6DB5"/>
                </a:solidFill>
                <a:latin typeface="JetBrains Mono" pitchFamily="34" charset="0"/>
                <a:ea typeface="JetBrains Mono" pitchFamily="34" charset="-122"/>
                <a:cs typeface="JetBrains Mono" pitchFamily="34" charset="-120"/>
              </a:rPr>
              <a:t>DEPLOYMENT  ·  ANYWHERE</a:t>
            </a:r>
            <a:endParaRPr lang="en-US" sz="1100" dirty="0"/>
          </a:p>
        </p:txBody>
      </p:sp>
      <p:sp>
        <p:nvSpPr>
          <p:cNvPr id="30" name="Text 24"/>
          <p:cNvSpPr txBox="1"/>
          <p:nvPr/>
        </p:nvSpPr>
        <p:spPr>
          <a:xfrm>
            <a:off x="6839712" y="2377440"/>
            <a:ext cx="4480560" cy="566928"/>
          </a:xfrm>
          <a:prstGeom prst="rect">
            <a:avLst/>
          </a:prstGeom>
          <a:noFill/>
          <a:ln/>
        </p:spPr>
        <p:txBody>
          <a:bodyPr wrap="square" lIns="0" tIns="0" rIns="0" bIns="0" rtlCol="0" anchor="ctr"/>
          <a:lstStyle/>
          <a:p>
            <a:pPr indent="0" marL="0">
              <a:buNone/>
            </a:pPr>
            <a:r>
              <a:rPr lang="en-US" sz="3200" dirty="0">
                <a:solidFill>
                  <a:srgbClr val="1A1C20"/>
                </a:solidFill>
                <a:latin typeface="Instrument Serif" pitchFamily="34" charset="0"/>
                <a:ea typeface="Instrument Serif" pitchFamily="34" charset="-122"/>
                <a:cs typeface="Instrument Serif" pitchFamily="34" charset="-120"/>
              </a:rPr>
              <a:t>Cameras are enough</a:t>
            </a:r>
            <a:endParaRPr lang="en-US" sz="3200" dirty="0"/>
          </a:p>
        </p:txBody>
      </p:sp>
      <p:sp>
        <p:nvSpPr>
          <p:cNvPr id="31" name="Shape 25"/>
          <p:cNvSpPr/>
          <p:nvPr/>
        </p:nvSpPr>
        <p:spPr>
          <a:xfrm>
            <a:off x="6839712" y="3136392"/>
            <a:ext cx="1426464" cy="960120"/>
          </a:xfrm>
          <a:prstGeom prst="roundRect">
            <a:avLst>
              <a:gd name="adj" fmla="val 9524"/>
            </a:avLst>
          </a:prstGeom>
          <a:solidFill>
            <a:srgbClr val="F7F6F2"/>
          </a:solidFill>
          <a:ln w="12700">
            <a:solidFill>
              <a:srgbClr val="E2DFD8"/>
            </a:solidFill>
            <a:prstDash val="solid"/>
          </a:ln>
        </p:spPr>
      </p:sp>
      <p:pic>
        <p:nvPicPr>
          <p:cNvPr id="32" name="Image 4" descr="preencoded.png">    </p:cNvPr>
          <p:cNvPicPr>
            <a:picLocks noChangeAspect="1"/>
          </p:cNvPicPr>
          <p:nvPr/>
        </p:nvPicPr>
        <p:blipFill>
          <a:blip r:embed="rId5"/>
          <a:stretch>
            <a:fillRect/>
          </a:stretch>
        </p:blipFill>
        <p:spPr>
          <a:xfrm>
            <a:off x="7370064" y="3282696"/>
            <a:ext cx="365760" cy="365760"/>
          </a:xfrm>
          <a:prstGeom prst="rect">
            <a:avLst/>
          </a:prstGeom>
        </p:spPr>
      </p:pic>
      <p:sp>
        <p:nvSpPr>
          <p:cNvPr id="33" name="Text 26"/>
          <p:cNvSpPr txBox="1"/>
          <p:nvPr/>
        </p:nvSpPr>
        <p:spPr>
          <a:xfrm>
            <a:off x="6839712" y="3703320"/>
            <a:ext cx="1426464" cy="292608"/>
          </a:xfrm>
          <a:prstGeom prst="rect">
            <a:avLst/>
          </a:prstGeom>
          <a:noFill/>
          <a:ln/>
        </p:spPr>
        <p:txBody>
          <a:bodyPr wrap="square" lIns="0" tIns="0" rIns="0" bIns="0" rtlCol="0" anchor="ctr"/>
          <a:lstStyle/>
          <a:p>
            <a:pPr algn="ctr" indent="0" marL="0">
              <a:buNone/>
            </a:pPr>
            <a:r>
              <a:rPr lang="en-US" sz="1400" b="1" dirty="0">
                <a:solidFill>
                  <a:srgbClr val="3A3E45"/>
                </a:solidFill>
                <a:latin typeface="IBM Plex Sans" pitchFamily="34" charset="0"/>
                <a:ea typeface="IBM Plex Sans" pitchFamily="34" charset="-122"/>
                <a:cs typeface="IBM Plex Sans" pitchFamily="34" charset="-120"/>
              </a:rPr>
              <a:t>Vision</a:t>
            </a:r>
            <a:endParaRPr lang="en-US" sz="1400" dirty="0"/>
          </a:p>
        </p:txBody>
      </p:sp>
      <p:sp>
        <p:nvSpPr>
          <p:cNvPr id="34" name="Shape 27"/>
          <p:cNvSpPr/>
          <p:nvPr/>
        </p:nvSpPr>
        <p:spPr>
          <a:xfrm>
            <a:off x="8357616" y="3136392"/>
            <a:ext cx="1426464" cy="960120"/>
          </a:xfrm>
          <a:prstGeom prst="roundRect">
            <a:avLst>
              <a:gd name="adj" fmla="val 9524"/>
            </a:avLst>
          </a:prstGeom>
          <a:solidFill>
            <a:srgbClr val="F7F6F2"/>
          </a:solidFill>
          <a:ln w="12700">
            <a:solidFill>
              <a:srgbClr val="E2DFD8"/>
            </a:solidFill>
            <a:prstDash val="solid"/>
          </a:ln>
        </p:spPr>
      </p:sp>
      <p:pic>
        <p:nvPicPr>
          <p:cNvPr id="35" name="Image 5" descr="preencoded.png">    </p:cNvPr>
          <p:cNvPicPr>
            <a:picLocks noChangeAspect="1"/>
          </p:cNvPicPr>
          <p:nvPr/>
        </p:nvPicPr>
        <p:blipFill>
          <a:blip r:embed="rId6"/>
          <a:stretch>
            <a:fillRect/>
          </a:stretch>
        </p:blipFill>
        <p:spPr>
          <a:xfrm>
            <a:off x="8887968" y="3282696"/>
            <a:ext cx="365760" cy="365760"/>
          </a:xfrm>
          <a:prstGeom prst="rect">
            <a:avLst/>
          </a:prstGeom>
        </p:spPr>
      </p:pic>
      <p:sp>
        <p:nvSpPr>
          <p:cNvPr id="36" name="Text 28"/>
          <p:cNvSpPr txBox="1"/>
          <p:nvPr/>
        </p:nvSpPr>
        <p:spPr>
          <a:xfrm>
            <a:off x="8357616" y="3703320"/>
            <a:ext cx="1426464" cy="292608"/>
          </a:xfrm>
          <a:prstGeom prst="rect">
            <a:avLst/>
          </a:prstGeom>
          <a:noFill/>
          <a:ln/>
        </p:spPr>
        <p:txBody>
          <a:bodyPr wrap="square" lIns="0" tIns="0" rIns="0" bIns="0" rtlCol="0" anchor="ctr"/>
          <a:lstStyle/>
          <a:p>
            <a:pPr algn="ctr" indent="0" marL="0">
              <a:buNone/>
            </a:pPr>
            <a:r>
              <a:rPr lang="en-US" sz="1400" b="1" dirty="0">
                <a:solidFill>
                  <a:srgbClr val="3A3E45"/>
                </a:solidFill>
                <a:latin typeface="IBM Plex Sans" pitchFamily="34" charset="0"/>
                <a:ea typeface="IBM Plex Sans" pitchFamily="34" charset="-122"/>
                <a:cs typeface="IBM Plex Sans" pitchFamily="34" charset="-120"/>
              </a:rPr>
              <a:t>Language</a:t>
            </a:r>
            <a:endParaRPr lang="en-US" sz="1400" dirty="0"/>
          </a:p>
        </p:txBody>
      </p:sp>
      <p:sp>
        <p:nvSpPr>
          <p:cNvPr id="37" name="Shape 29"/>
          <p:cNvSpPr/>
          <p:nvPr/>
        </p:nvSpPr>
        <p:spPr>
          <a:xfrm>
            <a:off x="9875520" y="3136392"/>
            <a:ext cx="1426464" cy="960120"/>
          </a:xfrm>
          <a:prstGeom prst="roundRect">
            <a:avLst>
              <a:gd name="adj" fmla="val 9524"/>
            </a:avLst>
          </a:prstGeom>
          <a:solidFill>
            <a:srgbClr val="FFFFFF"/>
          </a:solidFill>
          <a:ln w="12700">
            <a:solidFill>
              <a:srgbClr val="C6C7CA"/>
            </a:solidFill>
            <a:prstDash val="dash"/>
          </a:ln>
        </p:spPr>
      </p:sp>
      <p:pic>
        <p:nvPicPr>
          <p:cNvPr id="38" name="Image 6" descr="preencoded.png">    </p:cNvPr>
          <p:cNvPicPr>
            <a:picLocks noChangeAspect="1"/>
          </p:cNvPicPr>
          <p:nvPr/>
        </p:nvPicPr>
        <p:blipFill>
          <a:blip r:embed="rId7"/>
          <a:stretch>
            <a:fillRect/>
          </a:stretch>
        </p:blipFill>
        <p:spPr>
          <a:xfrm>
            <a:off x="10405872" y="3282696"/>
            <a:ext cx="365760" cy="365760"/>
          </a:xfrm>
          <a:prstGeom prst="rect">
            <a:avLst/>
          </a:prstGeom>
        </p:spPr>
      </p:pic>
      <p:sp>
        <p:nvSpPr>
          <p:cNvPr id="39" name="Text 30"/>
          <p:cNvSpPr txBox="1"/>
          <p:nvPr/>
        </p:nvSpPr>
        <p:spPr>
          <a:xfrm>
            <a:off x="9875520" y="3703320"/>
            <a:ext cx="1426464" cy="292608"/>
          </a:xfrm>
          <a:prstGeom prst="rect">
            <a:avLst/>
          </a:prstGeom>
          <a:noFill/>
          <a:ln/>
        </p:spPr>
        <p:txBody>
          <a:bodyPr wrap="square" lIns="0" tIns="0" rIns="0" bIns="0" rtlCol="0" anchor="ctr"/>
          <a:lstStyle/>
          <a:p>
            <a:pPr algn="ctr" indent="0" marL="0">
              <a:buNone/>
            </a:pPr>
            <a:r>
              <a:rPr lang="en-US" sz="1400" b="1" dirty="0">
                <a:solidFill>
                  <a:srgbClr val="A3A6AB"/>
                </a:solidFill>
                <a:latin typeface="IBM Plex Sans" pitchFamily="34" charset="0"/>
                <a:ea typeface="IBM Plex Sans" pitchFamily="34" charset="-122"/>
                <a:cs typeface="IBM Plex Sans" pitchFamily="34" charset="-120"/>
              </a:rPr>
              <a:t>No touch</a:t>
            </a:r>
            <a:endParaRPr lang="en-US" sz="1400" dirty="0"/>
          </a:p>
        </p:txBody>
      </p:sp>
      <p:sp>
        <p:nvSpPr>
          <p:cNvPr id="40" name="Shape 31"/>
          <p:cNvSpPr/>
          <p:nvPr/>
        </p:nvSpPr>
        <p:spPr>
          <a:xfrm>
            <a:off x="6839712" y="4297680"/>
            <a:ext cx="658368" cy="658368"/>
          </a:xfrm>
          <a:prstGeom prst="ellipse">
            <a:avLst/>
          </a:prstGeom>
          <a:solidFill>
            <a:srgbClr val="E8F0FA"/>
          </a:solidFill>
          <a:ln w="12700">
            <a:solidFill>
              <a:srgbClr val="E8F0FA"/>
            </a:solidFill>
            <a:prstDash val="solid"/>
          </a:ln>
        </p:spPr>
      </p:sp>
      <p:pic>
        <p:nvPicPr>
          <p:cNvPr id="41" name="Image 7" descr="preencoded.png">    </p:cNvPr>
          <p:cNvPicPr>
            <a:picLocks noChangeAspect="1"/>
          </p:cNvPicPr>
          <p:nvPr/>
        </p:nvPicPr>
        <p:blipFill>
          <a:blip r:embed="rId8"/>
          <a:stretch>
            <a:fillRect/>
          </a:stretch>
        </p:blipFill>
        <p:spPr>
          <a:xfrm>
            <a:off x="6976872" y="4434840"/>
            <a:ext cx="384048" cy="384048"/>
          </a:xfrm>
          <a:prstGeom prst="rect">
            <a:avLst/>
          </a:prstGeom>
        </p:spPr>
      </p:pic>
      <p:sp>
        <p:nvSpPr>
          <p:cNvPr id="42" name="Text 32"/>
          <p:cNvSpPr txBox="1"/>
          <p:nvPr/>
        </p:nvSpPr>
        <p:spPr>
          <a:xfrm>
            <a:off x="7680960" y="4297680"/>
            <a:ext cx="3657600" cy="658368"/>
          </a:xfrm>
          <a:prstGeom prst="rect">
            <a:avLst/>
          </a:prstGeom>
          <a:noFill/>
          <a:ln/>
        </p:spPr>
        <p:txBody>
          <a:bodyPr wrap="square" lIns="0" tIns="0" rIns="0" bIns="0" rtlCol="0" anchor="ctr"/>
          <a:lstStyle/>
          <a:p>
            <a:pPr indent="0" marL="0">
              <a:buNone/>
            </a:pPr>
            <a:r>
              <a:rPr lang="en-US" sz="1500" dirty="0">
                <a:solidFill>
                  <a:srgbClr val="5B6068"/>
                </a:solidFill>
                <a:latin typeface="IBM Plex Sans" pitchFamily="34" charset="0"/>
                <a:ea typeface="IBM Plex Sans" pitchFamily="34" charset="-122"/>
                <a:cs typeface="IBM Plex Sans" pitchFamily="34" charset="-120"/>
              </a:rPr>
              <a:t>Any camera-only robot runs the same small model</a:t>
            </a:r>
            <a:endParaRPr lang="en-US" sz="1500" dirty="0"/>
          </a:p>
        </p:txBody>
      </p:sp>
      <p:sp>
        <p:nvSpPr>
          <p:cNvPr id="43" name="Shape 33"/>
          <p:cNvSpPr/>
          <p:nvPr/>
        </p:nvSpPr>
        <p:spPr>
          <a:xfrm>
            <a:off x="5811012" y="3200400"/>
            <a:ext cx="585216" cy="585216"/>
          </a:xfrm>
          <a:prstGeom prst="ellipse">
            <a:avLst/>
          </a:prstGeom>
          <a:solidFill>
            <a:srgbClr val="2F6DB5"/>
          </a:solidFill>
          <a:ln w="25400">
            <a:solidFill>
              <a:srgbClr val="FFFFFF"/>
            </a:solidFill>
            <a:prstDash val="solid"/>
          </a:ln>
          <a:effectLst>
            <a:outerShdw sx="100000" sy="100000" kx="0" ky="0" algn="bl" rotWithShape="0" blurRad="63500" dist="19050" dir="5400000">
              <a:srgbClr val="000000">
                <a:alpha val="8000"/>
              </a:srgbClr>
            </a:outerShdw>
          </a:effectLst>
        </p:spPr>
      </p:sp>
      <p:pic>
        <p:nvPicPr>
          <p:cNvPr id="44" name="Image 8" descr="preencoded.png">    </p:cNvPr>
          <p:cNvPicPr>
            <a:picLocks noChangeAspect="1"/>
          </p:cNvPicPr>
          <p:nvPr/>
        </p:nvPicPr>
        <p:blipFill>
          <a:blip r:embed="rId9"/>
          <a:stretch>
            <a:fillRect/>
          </a:stretch>
        </p:blipFill>
        <p:spPr>
          <a:xfrm>
            <a:off x="5939028" y="3328416"/>
            <a:ext cx="329184" cy="329184"/>
          </a:xfrm>
          <a:prstGeom prst="rect">
            <a:avLst/>
          </a:prstGeom>
        </p:spPr>
      </p:pic>
      <p:sp>
        <p:nvSpPr>
          <p:cNvPr id="45" name="Text 34"/>
          <p:cNvSpPr txBox="1"/>
          <p:nvPr/>
        </p:nvSpPr>
        <p:spPr>
          <a:xfrm>
            <a:off x="548640" y="5440680"/>
            <a:ext cx="11091672" cy="548640"/>
          </a:xfrm>
          <a:prstGeom prst="rect">
            <a:avLst/>
          </a:prstGeom>
          <a:noFill/>
          <a:ln/>
        </p:spPr>
        <p:txBody>
          <a:bodyPr wrap="square" lIns="0" tIns="0" rIns="0" bIns="0" rtlCol="0" anchor="ctr"/>
          <a:lstStyle/>
          <a:p>
            <a:pPr indent="0" marL="0">
              <a:buNone/>
            </a:pPr>
            <a:r>
              <a:rPr lang="en-US" sz="2000" b="1" dirty="0">
                <a:solidFill>
                  <a:srgbClr val="1A1C20"/>
                </a:solidFill>
                <a:latin typeface="IBM Plex Sans" pitchFamily="34" charset="0"/>
                <a:ea typeface="IBM Plex Sans" pitchFamily="34" charset="-122"/>
                <a:cs typeface="IBM Plex Sans" pitchFamily="34" charset="-120"/>
              </a:rPr>
              <a:t>Touch becomes a teacher, </a:t>
            </a:r>
            <a:pPr indent="0" marL="0">
              <a:buNone/>
            </a:pPr>
            <a:r>
              <a:rPr lang="en-US" sz="2000" dirty="0">
                <a:solidFill>
                  <a:srgbClr val="1A1C20"/>
                </a:solidFill>
                <a:latin typeface="IBM Plex Sans" pitchFamily="34" charset="0"/>
                <a:ea typeface="IBM Plex Sans" pitchFamily="34" charset="-122"/>
                <a:cs typeface="IBM Plex Sans" pitchFamily="34" charset="-120"/>
              </a:rPr>
              <a:t>not a part you have to install.</a:t>
            </a:r>
            <a:endParaRPr lang="en-US" sz="2000" dirty="0"/>
          </a:p>
        </p:txBody>
      </p:sp>
      <p:sp>
        <p:nvSpPr>
          <p:cNvPr id="46" name="Text 35"/>
          <p:cNvSpPr txBox="1"/>
          <p:nvPr/>
        </p:nvSpPr>
        <p:spPr>
          <a:xfrm>
            <a:off x="548640" y="6419088"/>
            <a:ext cx="7772400" cy="201168"/>
          </a:xfrm>
          <a:prstGeom prst="rect">
            <a:avLst/>
          </a:prstGeom>
          <a:noFill/>
          <a:ln/>
        </p:spPr>
        <p:txBody>
          <a:bodyPr wrap="square" lIns="0" tIns="0" rIns="0" bIns="0" rtlCol="0" anchor="ctr"/>
          <a:lstStyle/>
          <a:p>
            <a:pPr indent="0" marL="0">
              <a:buNone/>
            </a:pPr>
            <a:r>
              <a:rPr lang="en-US" sz="900" dirty="0">
                <a:solidFill>
                  <a:srgbClr val="8A8E95"/>
                </a:solidFill>
                <a:latin typeface="JetBrains Mono" pitchFamily="34" charset="0"/>
                <a:ea typeface="JetBrains Mono" pitchFamily="34" charset="-122"/>
                <a:cs typeface="JetBrains Mono" pitchFamily="34" charset="-120"/>
              </a:rPr>
              <a:t>HapticVLA  ·  IROS 2026  ·  Pittsburgh</a:t>
            </a:r>
            <a:endParaRPr lang="en-US" sz="900" dirty="0"/>
          </a:p>
        </p:txBody>
      </p:sp>
      <p:pic>
        <p:nvPicPr>
          <p:cNvPr id="47" name="Image 9" descr="/tmp/claude-0/deck/assets/skoltech_dark.png">    </p:cNvPr>
          <p:cNvPicPr>
            <a:picLocks noChangeAspect="1"/>
          </p:cNvPicPr>
          <p:nvPr/>
        </p:nvPicPr>
        <p:blipFill>
          <a:blip r:embed="rId10"/>
          <a:stretch>
            <a:fillRect/>
          </a:stretch>
        </p:blipFill>
        <p:spPr>
          <a:xfrm>
            <a:off x="10771632" y="6437376"/>
            <a:ext cx="868680" cy="1463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C"/>
        </a:solidFill>
      </p:bgPr>
    </p:bg>
    <p:spTree>
      <p:nvGrpSpPr>
        <p:cNvPr id="1" name=""/>
        <p:cNvGrpSpPr/>
        <p:nvPr/>
      </p:nvGrpSpPr>
      <p:grpSpPr>
        <a:xfrm>
          <a:off x="0" y="0"/>
          <a:ext cx="0" cy="0"/>
          <a:chOff x="0" y="0"/>
          <a:chExt cx="0" cy="0"/>
        </a:xfrm>
      </p:grpSpPr>
      <p:sp>
        <p:nvSpPr>
          <p:cNvPr id="2" name="Shape 0"/>
          <p:cNvSpPr/>
          <p:nvPr/>
        </p:nvSpPr>
        <p:spPr>
          <a:xfrm>
            <a:off x="9244584" y="420624"/>
            <a:ext cx="420624" cy="420624"/>
          </a:xfrm>
          <a:prstGeom prst="roundRect">
            <a:avLst>
              <a:gd name="adj" fmla="val 17391"/>
            </a:avLst>
          </a:prstGeom>
          <a:solidFill>
            <a:srgbClr val="FFFFFF"/>
          </a:solidFill>
          <a:ln w="12700">
            <a:solidFill>
              <a:srgbClr val="E2DFD8"/>
            </a:solidFill>
            <a:prstDash val="solid"/>
          </a:ln>
        </p:spPr>
      </p:sp>
      <p:sp>
        <p:nvSpPr>
          <p:cNvPr id="3" name="Text 1"/>
          <p:cNvSpPr txBox="1"/>
          <p:nvPr/>
        </p:nvSpPr>
        <p:spPr>
          <a:xfrm>
            <a:off x="9244584"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T</a:t>
            </a:r>
            <a:endParaRPr lang="en-US" sz="2100" dirty="0"/>
          </a:p>
        </p:txBody>
      </p:sp>
      <p:sp>
        <p:nvSpPr>
          <p:cNvPr id="4" name="Shape 2"/>
          <p:cNvSpPr/>
          <p:nvPr/>
        </p:nvSpPr>
        <p:spPr>
          <a:xfrm>
            <a:off x="9738360" y="420624"/>
            <a:ext cx="420624" cy="420624"/>
          </a:xfrm>
          <a:prstGeom prst="roundRect">
            <a:avLst>
              <a:gd name="adj" fmla="val 17391"/>
            </a:avLst>
          </a:prstGeom>
          <a:solidFill>
            <a:srgbClr val="FFFFFF"/>
          </a:solidFill>
          <a:ln w="12700">
            <a:solidFill>
              <a:srgbClr val="E2DFD8"/>
            </a:solidFill>
            <a:prstDash val="solid"/>
          </a:ln>
        </p:spPr>
      </p:sp>
      <p:sp>
        <p:nvSpPr>
          <p:cNvPr id="5" name="Text 3"/>
          <p:cNvSpPr txBox="1"/>
          <p:nvPr/>
        </p:nvSpPr>
        <p:spPr>
          <a:xfrm>
            <a:off x="9738360"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O</a:t>
            </a:r>
            <a:endParaRPr lang="en-US" sz="2100" dirty="0"/>
          </a:p>
        </p:txBody>
      </p:sp>
      <p:sp>
        <p:nvSpPr>
          <p:cNvPr id="6" name="Shape 4"/>
          <p:cNvSpPr/>
          <p:nvPr/>
        </p:nvSpPr>
        <p:spPr>
          <a:xfrm>
            <a:off x="10232136" y="420624"/>
            <a:ext cx="420624" cy="420624"/>
          </a:xfrm>
          <a:prstGeom prst="roundRect">
            <a:avLst>
              <a:gd name="adj" fmla="val 17391"/>
            </a:avLst>
          </a:prstGeom>
          <a:solidFill>
            <a:srgbClr val="1F9D8A"/>
          </a:solidFill>
          <a:ln w="12700">
            <a:solidFill>
              <a:srgbClr val="1F9D8A"/>
            </a:solidFill>
            <a:prstDash val="solid"/>
          </a:ln>
        </p:spPr>
      </p:sp>
      <p:sp>
        <p:nvSpPr>
          <p:cNvPr id="7" name="Text 5"/>
          <p:cNvSpPr txBox="1"/>
          <p:nvPr/>
        </p:nvSpPr>
        <p:spPr>
          <a:xfrm>
            <a:off x="10232136" y="420624"/>
            <a:ext cx="420624" cy="420624"/>
          </a:xfrm>
          <a:prstGeom prst="rect">
            <a:avLst/>
          </a:prstGeom>
          <a:noFill/>
          <a:ln/>
        </p:spPr>
        <p:txBody>
          <a:bodyPr wrap="square" lIns="0" tIns="0" rIns="0" bIns="0" rtlCol="0" anchor="ctr"/>
          <a:lstStyle/>
          <a:p>
            <a:pPr algn="ctr" indent="0" marL="0">
              <a:buNone/>
            </a:pPr>
            <a:r>
              <a:rPr lang="en-US" sz="2100" dirty="0">
                <a:solidFill>
                  <a:srgbClr val="FFFFFF"/>
                </a:solidFill>
                <a:latin typeface="Instrument Serif" pitchFamily="34" charset="0"/>
                <a:ea typeface="Instrument Serif" pitchFamily="34" charset="-122"/>
                <a:cs typeface="Instrument Serif" pitchFamily="34" charset="-120"/>
              </a:rPr>
              <a:t>U</a:t>
            </a:r>
            <a:endParaRPr lang="en-US" sz="2100" dirty="0"/>
          </a:p>
        </p:txBody>
      </p:sp>
      <p:sp>
        <p:nvSpPr>
          <p:cNvPr id="8" name="Shape 6"/>
          <p:cNvSpPr/>
          <p:nvPr/>
        </p:nvSpPr>
        <p:spPr>
          <a:xfrm>
            <a:off x="10725912" y="420624"/>
            <a:ext cx="420624" cy="420624"/>
          </a:xfrm>
          <a:prstGeom prst="roundRect">
            <a:avLst>
              <a:gd name="adj" fmla="val 17391"/>
            </a:avLst>
          </a:prstGeom>
          <a:solidFill>
            <a:srgbClr val="FFFFFF"/>
          </a:solidFill>
          <a:ln w="12700">
            <a:solidFill>
              <a:srgbClr val="E2DFD8"/>
            </a:solidFill>
            <a:prstDash val="solid"/>
          </a:ln>
        </p:spPr>
      </p:sp>
      <p:sp>
        <p:nvSpPr>
          <p:cNvPr id="9" name="Text 7"/>
          <p:cNvSpPr txBox="1"/>
          <p:nvPr/>
        </p:nvSpPr>
        <p:spPr>
          <a:xfrm>
            <a:off x="10725912"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C</a:t>
            </a:r>
            <a:endParaRPr lang="en-US" sz="2100" dirty="0"/>
          </a:p>
        </p:txBody>
      </p:sp>
      <p:sp>
        <p:nvSpPr>
          <p:cNvPr id="10" name="Shape 8"/>
          <p:cNvSpPr/>
          <p:nvPr/>
        </p:nvSpPr>
        <p:spPr>
          <a:xfrm>
            <a:off x="11219688" y="420624"/>
            <a:ext cx="420624" cy="420624"/>
          </a:xfrm>
          <a:prstGeom prst="roundRect">
            <a:avLst>
              <a:gd name="adj" fmla="val 17391"/>
            </a:avLst>
          </a:prstGeom>
          <a:solidFill>
            <a:srgbClr val="FFFFFF"/>
          </a:solidFill>
          <a:ln w="12700">
            <a:solidFill>
              <a:srgbClr val="E2DFD8"/>
            </a:solidFill>
            <a:prstDash val="solid"/>
          </a:ln>
        </p:spPr>
      </p:sp>
      <p:sp>
        <p:nvSpPr>
          <p:cNvPr id="11" name="Text 9"/>
          <p:cNvSpPr txBox="1"/>
          <p:nvPr/>
        </p:nvSpPr>
        <p:spPr>
          <a:xfrm>
            <a:off x="11219688"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H</a:t>
            </a:r>
            <a:endParaRPr lang="en-US" sz="2100" dirty="0"/>
          </a:p>
        </p:txBody>
      </p:sp>
      <p:sp>
        <p:nvSpPr>
          <p:cNvPr id="12" name="Text 10"/>
          <p:cNvSpPr txBox="1"/>
          <p:nvPr/>
        </p:nvSpPr>
        <p:spPr>
          <a:xfrm>
            <a:off x="548640" y="457200"/>
            <a:ext cx="7315200" cy="274320"/>
          </a:xfrm>
          <a:prstGeom prst="rect">
            <a:avLst/>
          </a:prstGeom>
          <a:noFill/>
          <a:ln/>
        </p:spPr>
        <p:txBody>
          <a:bodyPr wrap="square" lIns="0" tIns="0" rIns="0" bIns="0" rtlCol="0" anchor="t"/>
          <a:lstStyle/>
          <a:p>
            <a:pPr indent="0" marL="0">
              <a:buNone/>
            </a:pPr>
            <a:r>
              <a:rPr lang="en-US" sz="1200" b="1" spc="200" kern="0" dirty="0">
                <a:solidFill>
                  <a:srgbClr val="1F9D8A"/>
                </a:solidFill>
                <a:latin typeface="JetBrains Mono" pitchFamily="34" charset="0"/>
                <a:ea typeface="JetBrains Mono" pitchFamily="34" charset="-122"/>
                <a:cs typeface="JetBrains Mono" pitchFamily="34" charset="-120"/>
              </a:rPr>
              <a:t>U · USE TOUCH AS A REWARD</a:t>
            </a:r>
            <a:endParaRPr lang="en-US" sz="1200" dirty="0"/>
          </a:p>
        </p:txBody>
      </p:sp>
      <p:sp>
        <p:nvSpPr>
          <p:cNvPr id="13" name="Text 11"/>
          <p:cNvSpPr txBox="1"/>
          <p:nvPr/>
        </p:nvSpPr>
        <p:spPr>
          <a:xfrm>
            <a:off x="548640" y="786384"/>
            <a:ext cx="8503920" cy="777240"/>
          </a:xfrm>
          <a:prstGeom prst="rect">
            <a:avLst/>
          </a:prstGeom>
          <a:noFill/>
          <a:ln/>
        </p:spPr>
        <p:txBody>
          <a:bodyPr wrap="square" lIns="0" tIns="0" rIns="0" bIns="0" rtlCol="0" anchor="ctr"/>
          <a:lstStyle/>
          <a:p>
            <a:pPr indent="0" marL="0">
              <a:buNone/>
            </a:pPr>
            <a:r>
              <a:rPr lang="en-US" sz="4200" dirty="0">
                <a:solidFill>
                  <a:srgbClr val="1A1C20"/>
                </a:solidFill>
                <a:latin typeface="Instrument Serif" pitchFamily="34" charset="0"/>
                <a:ea typeface="Instrument Serif" pitchFamily="34" charset="-122"/>
                <a:cs typeface="Instrument Serif" pitchFamily="34" charset="-120"/>
              </a:rPr>
              <a:t>Use touch as a </a:t>
            </a:r>
            <a:pPr indent="0" marL="0">
              <a:buNone/>
            </a:pPr>
            <a:r>
              <a:rPr lang="en-US" sz="4200" i="1" dirty="0">
                <a:solidFill>
                  <a:srgbClr val="1F9D8A"/>
                </a:solidFill>
                <a:latin typeface="Instrument Serif" pitchFamily="34" charset="0"/>
                <a:ea typeface="Instrument Serif" pitchFamily="34" charset="-122"/>
                <a:cs typeface="Instrument Serif" pitchFamily="34" charset="-120"/>
              </a:rPr>
              <a:t>reward.</a:t>
            </a:r>
            <a:endParaRPr lang="en-US" sz="4200" dirty="0"/>
          </a:p>
        </p:txBody>
      </p:sp>
      <p:sp>
        <p:nvSpPr>
          <p:cNvPr id="14" name="Shape 12"/>
          <p:cNvSpPr/>
          <p:nvPr/>
        </p:nvSpPr>
        <p:spPr>
          <a:xfrm>
            <a:off x="548640" y="1783080"/>
            <a:ext cx="11091672" cy="3520440"/>
          </a:xfrm>
          <a:prstGeom prst="roundRect">
            <a:avLst>
              <a:gd name="adj" fmla="val 3636"/>
            </a:avLst>
          </a:prstGeom>
          <a:solidFill>
            <a:srgbClr val="FFFFFF"/>
          </a:solidFill>
          <a:ln w="12700">
            <a:solidFill>
              <a:srgbClr val="1F9D8A"/>
            </a:solidFill>
            <a:prstDash val="solid"/>
          </a:ln>
          <a:effectLst>
            <a:outerShdw sx="100000" sy="100000" kx="0" ky="0" algn="bl" rotWithShape="0" blurRad="63500" dist="19050" dir="5400000">
              <a:srgbClr val="000000">
                <a:alpha val="8000"/>
              </a:srgbClr>
            </a:outerShdw>
          </a:effectLst>
        </p:spPr>
      </p:sp>
      <p:pic>
        <p:nvPicPr>
          <p:cNvPr id="15" name="Image 0" descr="/tmp/claude-0/deck/assets/method.png">    </p:cNvPr>
          <p:cNvPicPr>
            <a:picLocks noChangeAspect="1"/>
          </p:cNvPicPr>
          <p:nvPr/>
        </p:nvPicPr>
        <p:blipFill>
          <a:blip r:embed="rId1"/>
          <a:stretch>
            <a:fillRect/>
          </a:stretch>
        </p:blipFill>
        <p:spPr>
          <a:xfrm>
            <a:off x="1699195" y="1920240"/>
            <a:ext cx="8790562" cy="3246120"/>
          </a:xfrm>
          <a:prstGeom prst="rect">
            <a:avLst/>
          </a:prstGeom>
        </p:spPr>
      </p:pic>
      <p:sp>
        <p:nvSpPr>
          <p:cNvPr id="16" name="Shape 13"/>
          <p:cNvSpPr/>
          <p:nvPr/>
        </p:nvSpPr>
        <p:spPr>
          <a:xfrm>
            <a:off x="548640" y="5486400"/>
            <a:ext cx="3575304" cy="749808"/>
          </a:xfrm>
          <a:prstGeom prst="roundRect">
            <a:avLst>
              <a:gd name="adj" fmla="val 12195"/>
            </a:avLst>
          </a:prstGeom>
          <a:solidFill>
            <a:srgbClr val="E2F3F0"/>
          </a:solidFill>
          <a:ln w="12700">
            <a:solidFill>
              <a:srgbClr val="E2F3F0"/>
            </a:solidFill>
            <a:prstDash val="solid"/>
          </a:ln>
        </p:spPr>
      </p:sp>
      <p:sp>
        <p:nvSpPr>
          <p:cNvPr id="17" name="Shape 14"/>
          <p:cNvSpPr/>
          <p:nvPr/>
        </p:nvSpPr>
        <p:spPr>
          <a:xfrm>
            <a:off x="713232" y="5669280"/>
            <a:ext cx="384048" cy="384048"/>
          </a:xfrm>
          <a:prstGeom prst="ellipse">
            <a:avLst/>
          </a:prstGeom>
          <a:solidFill>
            <a:srgbClr val="1F9D8A"/>
          </a:solidFill>
          <a:ln w="12700">
            <a:solidFill>
              <a:srgbClr val="1F9D8A"/>
            </a:solidFill>
            <a:prstDash val="solid"/>
          </a:ln>
        </p:spPr>
      </p:sp>
      <p:sp>
        <p:nvSpPr>
          <p:cNvPr id="18" name="Text 15"/>
          <p:cNvSpPr txBox="1"/>
          <p:nvPr/>
        </p:nvSpPr>
        <p:spPr>
          <a:xfrm>
            <a:off x="713232" y="5669280"/>
            <a:ext cx="384048" cy="384048"/>
          </a:xfrm>
          <a:prstGeom prst="rect">
            <a:avLst/>
          </a:prstGeom>
          <a:noFill/>
          <a:ln/>
        </p:spPr>
        <p:txBody>
          <a:bodyPr wrap="square" lIns="0" tIns="0" rIns="0" bIns="0" rtlCol="0" anchor="ctr"/>
          <a:lstStyle/>
          <a:p>
            <a:pPr algn="ctr" indent="0" marL="0">
              <a:buNone/>
            </a:pPr>
            <a:r>
              <a:rPr lang="en-US" sz="2000" dirty="0">
                <a:solidFill>
                  <a:srgbClr val="FFFFFF"/>
                </a:solidFill>
                <a:latin typeface="Instrument Serif" pitchFamily="34" charset="0"/>
                <a:ea typeface="Instrument Serif" pitchFamily="34" charset="-122"/>
                <a:cs typeface="Instrument Serif" pitchFamily="34" charset="-120"/>
              </a:rPr>
              <a:t>1</a:t>
            </a:r>
            <a:endParaRPr lang="en-US" sz="2000" dirty="0"/>
          </a:p>
        </p:txBody>
      </p:sp>
      <p:sp>
        <p:nvSpPr>
          <p:cNvPr id="19" name="Text 16"/>
          <p:cNvSpPr txBox="1"/>
          <p:nvPr/>
        </p:nvSpPr>
        <p:spPr>
          <a:xfrm>
            <a:off x="1234440" y="5541264"/>
            <a:ext cx="2752344" cy="640080"/>
          </a:xfrm>
          <a:prstGeom prst="rect">
            <a:avLst/>
          </a:prstGeom>
          <a:noFill/>
          <a:ln/>
        </p:spPr>
        <p:txBody>
          <a:bodyPr wrap="square" lIns="0" tIns="0" rIns="0" bIns="0" rtlCol="0" anchor="ctr"/>
          <a:lstStyle/>
          <a:p>
            <a:pPr indent="0" marL="0">
              <a:buNone/>
            </a:pPr>
            <a:r>
              <a:rPr lang="en-US" sz="1350" b="1" dirty="0">
                <a:solidFill>
                  <a:srgbClr val="1F9D8A"/>
                </a:solidFill>
                <a:latin typeface="IBM Plex Sans" pitchFamily="34" charset="0"/>
                <a:ea typeface="IBM Plex Sans" pitchFamily="34" charset="-122"/>
                <a:cs typeface="IBM Plex Sans" pitchFamily="34" charset="-120"/>
              </a:rPr>
              <a:t>Score.</a:t>
            </a:r>
            <a:pPr indent="0" marL="0">
              <a:buNone/>
            </a:pPr>
            <a:r>
              <a:rPr lang="en-US" sz="1350" dirty="0">
                <a:solidFill>
                  <a:srgbClr val="1A1C20"/>
                </a:solidFill>
                <a:latin typeface="IBM Plex Sans" pitchFamily="34" charset="0"/>
                <a:ea typeface="IBM Plex Sans" pitchFamily="34" charset="-122"/>
                <a:cs typeface="IBM Plex Sans" pitchFamily="34" charset="-120"/>
              </a:rPr>
              <a:t> Fingertips rate every moment of 310 real demos.</a:t>
            </a:r>
            <a:endParaRPr lang="en-US" sz="1350" dirty="0"/>
          </a:p>
        </p:txBody>
      </p:sp>
      <p:sp>
        <p:nvSpPr>
          <p:cNvPr id="20" name="Shape 17"/>
          <p:cNvSpPr/>
          <p:nvPr/>
        </p:nvSpPr>
        <p:spPr>
          <a:xfrm>
            <a:off x="4306824" y="5486400"/>
            <a:ext cx="3575304" cy="749808"/>
          </a:xfrm>
          <a:prstGeom prst="roundRect">
            <a:avLst>
              <a:gd name="adj" fmla="val 12195"/>
            </a:avLst>
          </a:prstGeom>
          <a:solidFill>
            <a:srgbClr val="E2F3F0"/>
          </a:solidFill>
          <a:ln w="12700">
            <a:solidFill>
              <a:srgbClr val="E2F3F0"/>
            </a:solidFill>
            <a:prstDash val="solid"/>
          </a:ln>
        </p:spPr>
      </p:sp>
      <p:sp>
        <p:nvSpPr>
          <p:cNvPr id="21" name="Shape 18"/>
          <p:cNvSpPr/>
          <p:nvPr/>
        </p:nvSpPr>
        <p:spPr>
          <a:xfrm>
            <a:off x="4471416" y="5669280"/>
            <a:ext cx="384048" cy="384048"/>
          </a:xfrm>
          <a:prstGeom prst="ellipse">
            <a:avLst/>
          </a:prstGeom>
          <a:solidFill>
            <a:srgbClr val="1F9D8A"/>
          </a:solidFill>
          <a:ln w="12700">
            <a:solidFill>
              <a:srgbClr val="1F9D8A"/>
            </a:solidFill>
            <a:prstDash val="solid"/>
          </a:ln>
        </p:spPr>
      </p:sp>
      <p:sp>
        <p:nvSpPr>
          <p:cNvPr id="22" name="Text 19"/>
          <p:cNvSpPr txBox="1"/>
          <p:nvPr/>
        </p:nvSpPr>
        <p:spPr>
          <a:xfrm>
            <a:off x="4471416" y="5669280"/>
            <a:ext cx="384048" cy="384048"/>
          </a:xfrm>
          <a:prstGeom prst="rect">
            <a:avLst/>
          </a:prstGeom>
          <a:noFill/>
          <a:ln/>
        </p:spPr>
        <p:txBody>
          <a:bodyPr wrap="square" lIns="0" tIns="0" rIns="0" bIns="0" rtlCol="0" anchor="ctr"/>
          <a:lstStyle/>
          <a:p>
            <a:pPr algn="ctr" indent="0" marL="0">
              <a:buNone/>
            </a:pPr>
            <a:r>
              <a:rPr lang="en-US" sz="2000" dirty="0">
                <a:solidFill>
                  <a:srgbClr val="FFFFFF"/>
                </a:solidFill>
                <a:latin typeface="Instrument Serif" pitchFamily="34" charset="0"/>
                <a:ea typeface="Instrument Serif" pitchFamily="34" charset="-122"/>
                <a:cs typeface="Instrument Serif" pitchFamily="34" charset="-120"/>
              </a:rPr>
              <a:t>2</a:t>
            </a:r>
            <a:endParaRPr lang="en-US" sz="2000" dirty="0"/>
          </a:p>
        </p:txBody>
      </p:sp>
      <p:sp>
        <p:nvSpPr>
          <p:cNvPr id="23" name="Text 20"/>
          <p:cNvSpPr txBox="1"/>
          <p:nvPr/>
        </p:nvSpPr>
        <p:spPr>
          <a:xfrm>
            <a:off x="4992624" y="5541264"/>
            <a:ext cx="2752344" cy="640080"/>
          </a:xfrm>
          <a:prstGeom prst="rect">
            <a:avLst/>
          </a:prstGeom>
          <a:noFill/>
          <a:ln/>
        </p:spPr>
        <p:txBody>
          <a:bodyPr wrap="square" lIns="0" tIns="0" rIns="0" bIns="0" rtlCol="0" anchor="ctr"/>
          <a:lstStyle/>
          <a:p>
            <a:pPr indent="0" marL="0">
              <a:buNone/>
            </a:pPr>
            <a:r>
              <a:rPr lang="en-US" sz="1350" b="1" dirty="0">
                <a:solidFill>
                  <a:srgbClr val="1F9D8A"/>
                </a:solidFill>
                <a:latin typeface="IBM Plex Sans" pitchFamily="34" charset="0"/>
                <a:ea typeface="IBM Plex Sans" pitchFamily="34" charset="-122"/>
                <a:cs typeface="IBM Plex Sans" pitchFamily="34" charset="-120"/>
              </a:rPr>
              <a:t>Penalize.</a:t>
            </a:r>
            <a:pPr indent="0" marL="0">
              <a:buNone/>
            </a:pPr>
            <a:r>
              <a:rPr lang="en-US" sz="1350" dirty="0">
                <a:solidFill>
                  <a:srgbClr val="1A1C20"/>
                </a:solidFill>
                <a:latin typeface="IBM Plex Sans" pitchFamily="34" charset="0"/>
                <a:ea typeface="IBM Plex Sans" pitchFamily="34" charset="-122"/>
                <a:cs typeface="IBM Plex Sans" pitchFamily="34" charset="-120"/>
              </a:rPr>
              <a:t> Too hard, too loose, or slipping loses weight.</a:t>
            </a:r>
            <a:endParaRPr lang="en-US" sz="1350" dirty="0"/>
          </a:p>
        </p:txBody>
      </p:sp>
      <p:sp>
        <p:nvSpPr>
          <p:cNvPr id="24" name="Shape 21"/>
          <p:cNvSpPr/>
          <p:nvPr/>
        </p:nvSpPr>
        <p:spPr>
          <a:xfrm>
            <a:off x="8065008" y="5486400"/>
            <a:ext cx="3575304" cy="749808"/>
          </a:xfrm>
          <a:prstGeom prst="roundRect">
            <a:avLst>
              <a:gd name="adj" fmla="val 12195"/>
            </a:avLst>
          </a:prstGeom>
          <a:solidFill>
            <a:srgbClr val="E2F3F0"/>
          </a:solidFill>
          <a:ln w="12700">
            <a:solidFill>
              <a:srgbClr val="E2F3F0"/>
            </a:solidFill>
            <a:prstDash val="solid"/>
          </a:ln>
        </p:spPr>
      </p:sp>
      <p:sp>
        <p:nvSpPr>
          <p:cNvPr id="25" name="Shape 22"/>
          <p:cNvSpPr/>
          <p:nvPr/>
        </p:nvSpPr>
        <p:spPr>
          <a:xfrm>
            <a:off x="8229600" y="5669280"/>
            <a:ext cx="384048" cy="384048"/>
          </a:xfrm>
          <a:prstGeom prst="ellipse">
            <a:avLst/>
          </a:prstGeom>
          <a:solidFill>
            <a:srgbClr val="1F9D8A"/>
          </a:solidFill>
          <a:ln w="12700">
            <a:solidFill>
              <a:srgbClr val="1F9D8A"/>
            </a:solidFill>
            <a:prstDash val="solid"/>
          </a:ln>
        </p:spPr>
      </p:sp>
      <p:sp>
        <p:nvSpPr>
          <p:cNvPr id="26" name="Text 23"/>
          <p:cNvSpPr txBox="1"/>
          <p:nvPr/>
        </p:nvSpPr>
        <p:spPr>
          <a:xfrm>
            <a:off x="8229600" y="5669280"/>
            <a:ext cx="384048" cy="384048"/>
          </a:xfrm>
          <a:prstGeom prst="rect">
            <a:avLst/>
          </a:prstGeom>
          <a:noFill/>
          <a:ln/>
        </p:spPr>
        <p:txBody>
          <a:bodyPr wrap="square" lIns="0" tIns="0" rIns="0" bIns="0" rtlCol="0" anchor="ctr"/>
          <a:lstStyle/>
          <a:p>
            <a:pPr algn="ctr" indent="0" marL="0">
              <a:buNone/>
            </a:pPr>
            <a:r>
              <a:rPr lang="en-US" sz="2000" dirty="0">
                <a:solidFill>
                  <a:srgbClr val="FFFFFF"/>
                </a:solidFill>
                <a:latin typeface="Instrument Serif" pitchFamily="34" charset="0"/>
                <a:ea typeface="Instrument Serif" pitchFamily="34" charset="-122"/>
                <a:cs typeface="Instrument Serif" pitchFamily="34" charset="-120"/>
              </a:rPr>
              <a:t>3</a:t>
            </a:r>
            <a:endParaRPr lang="en-US" sz="2000" dirty="0"/>
          </a:p>
        </p:txBody>
      </p:sp>
      <p:sp>
        <p:nvSpPr>
          <p:cNvPr id="27" name="Text 24"/>
          <p:cNvSpPr txBox="1"/>
          <p:nvPr/>
        </p:nvSpPr>
        <p:spPr>
          <a:xfrm>
            <a:off x="8750808" y="5541264"/>
            <a:ext cx="2752344" cy="640080"/>
          </a:xfrm>
          <a:prstGeom prst="rect">
            <a:avLst/>
          </a:prstGeom>
          <a:noFill/>
          <a:ln/>
        </p:spPr>
        <p:txBody>
          <a:bodyPr wrap="square" lIns="0" tIns="0" rIns="0" bIns="0" rtlCol="0" anchor="ctr"/>
          <a:lstStyle/>
          <a:p>
            <a:pPr indent="0" marL="0">
              <a:buNone/>
            </a:pPr>
            <a:r>
              <a:rPr lang="en-US" sz="1350" b="1" dirty="0">
                <a:solidFill>
                  <a:srgbClr val="1F9D8A"/>
                </a:solidFill>
                <a:latin typeface="IBM Plex Sans" pitchFamily="34" charset="0"/>
                <a:ea typeface="IBM Plex Sans" pitchFamily="34" charset="-122"/>
                <a:cs typeface="IBM Plex Sans" pitchFamily="34" charset="-120"/>
              </a:rPr>
              <a:t>Reward.</a:t>
            </a:r>
            <a:pPr indent="0" marL="0">
              <a:buNone/>
            </a:pPr>
            <a:r>
              <a:rPr lang="en-US" sz="1350" dirty="0">
                <a:solidFill>
                  <a:srgbClr val="1A1C20"/>
                </a:solidFill>
                <a:latin typeface="IBM Plex Sans" pitchFamily="34" charset="0"/>
                <a:ea typeface="IBM Plex Sans" pitchFamily="34" charset="-122"/>
                <a:cs typeface="IBM Plex Sans" pitchFamily="34" charset="-120"/>
              </a:rPr>
              <a:t> Gentle, successful moves count more.</a:t>
            </a:r>
            <a:endParaRPr lang="en-US" sz="1350" dirty="0"/>
          </a:p>
        </p:txBody>
      </p:sp>
      <p:sp>
        <p:nvSpPr>
          <p:cNvPr id="28" name="Text 25"/>
          <p:cNvSpPr txBox="1"/>
          <p:nvPr/>
        </p:nvSpPr>
        <p:spPr>
          <a:xfrm>
            <a:off x="548640" y="6419088"/>
            <a:ext cx="7772400" cy="201168"/>
          </a:xfrm>
          <a:prstGeom prst="rect">
            <a:avLst/>
          </a:prstGeom>
          <a:noFill/>
          <a:ln/>
        </p:spPr>
        <p:txBody>
          <a:bodyPr wrap="square" lIns="0" tIns="0" rIns="0" bIns="0" rtlCol="0" anchor="ctr"/>
          <a:lstStyle/>
          <a:p>
            <a:pPr indent="0" marL="0">
              <a:buNone/>
            </a:pPr>
            <a:r>
              <a:rPr lang="en-US" sz="900" dirty="0">
                <a:solidFill>
                  <a:srgbClr val="8A8E95"/>
                </a:solidFill>
                <a:latin typeface="JetBrains Mono" pitchFamily="34" charset="0"/>
                <a:ea typeface="JetBrains Mono" pitchFamily="34" charset="-122"/>
                <a:cs typeface="JetBrains Mono" pitchFamily="34" charset="-120"/>
              </a:rPr>
              <a:t>HapticVLA  ·  IROS 2026  ·  Pittsburgh</a:t>
            </a:r>
            <a:endParaRPr lang="en-US" sz="900" dirty="0"/>
          </a:p>
        </p:txBody>
      </p:sp>
      <p:pic>
        <p:nvPicPr>
          <p:cNvPr id="29" name="Image 1" descr="/tmp/claude-0/deck/assets/skoltech_dark.png">    </p:cNvPr>
          <p:cNvPicPr>
            <a:picLocks noChangeAspect="1"/>
          </p:cNvPicPr>
          <p:nvPr/>
        </p:nvPicPr>
        <p:blipFill>
          <a:blip r:embed="rId2"/>
          <a:stretch>
            <a:fillRect/>
          </a:stretch>
        </p:blipFill>
        <p:spPr>
          <a:xfrm>
            <a:off x="10771632" y="6437376"/>
            <a:ext cx="868680" cy="1463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EC"/>
        </a:solidFill>
      </p:bgPr>
    </p:bg>
    <p:spTree>
      <p:nvGrpSpPr>
        <p:cNvPr id="1" name=""/>
        <p:cNvGrpSpPr/>
        <p:nvPr/>
      </p:nvGrpSpPr>
      <p:grpSpPr>
        <a:xfrm>
          <a:off x="0" y="0"/>
          <a:ext cx="0" cy="0"/>
          <a:chOff x="0" y="0"/>
          <a:chExt cx="0" cy="0"/>
        </a:xfrm>
      </p:grpSpPr>
      <p:sp>
        <p:nvSpPr>
          <p:cNvPr id="2" name="Shape 0"/>
          <p:cNvSpPr/>
          <p:nvPr/>
        </p:nvSpPr>
        <p:spPr>
          <a:xfrm>
            <a:off x="9244584" y="420624"/>
            <a:ext cx="420624" cy="420624"/>
          </a:xfrm>
          <a:prstGeom prst="roundRect">
            <a:avLst>
              <a:gd name="adj" fmla="val 17391"/>
            </a:avLst>
          </a:prstGeom>
          <a:solidFill>
            <a:srgbClr val="FFFFFF"/>
          </a:solidFill>
          <a:ln w="12700">
            <a:solidFill>
              <a:srgbClr val="E2DFD8"/>
            </a:solidFill>
            <a:prstDash val="solid"/>
          </a:ln>
        </p:spPr>
      </p:sp>
      <p:sp>
        <p:nvSpPr>
          <p:cNvPr id="3" name="Text 1"/>
          <p:cNvSpPr txBox="1"/>
          <p:nvPr/>
        </p:nvSpPr>
        <p:spPr>
          <a:xfrm>
            <a:off x="9244584"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T</a:t>
            </a:r>
            <a:endParaRPr lang="en-US" sz="2100" dirty="0"/>
          </a:p>
        </p:txBody>
      </p:sp>
      <p:sp>
        <p:nvSpPr>
          <p:cNvPr id="4" name="Shape 2"/>
          <p:cNvSpPr/>
          <p:nvPr/>
        </p:nvSpPr>
        <p:spPr>
          <a:xfrm>
            <a:off x="9738360" y="420624"/>
            <a:ext cx="420624" cy="420624"/>
          </a:xfrm>
          <a:prstGeom prst="roundRect">
            <a:avLst>
              <a:gd name="adj" fmla="val 17391"/>
            </a:avLst>
          </a:prstGeom>
          <a:solidFill>
            <a:srgbClr val="FFFFFF"/>
          </a:solidFill>
          <a:ln w="12700">
            <a:solidFill>
              <a:srgbClr val="E2DFD8"/>
            </a:solidFill>
            <a:prstDash val="solid"/>
          </a:ln>
        </p:spPr>
      </p:sp>
      <p:sp>
        <p:nvSpPr>
          <p:cNvPr id="5" name="Text 3"/>
          <p:cNvSpPr txBox="1"/>
          <p:nvPr/>
        </p:nvSpPr>
        <p:spPr>
          <a:xfrm>
            <a:off x="9738360"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O</a:t>
            </a:r>
            <a:endParaRPr lang="en-US" sz="2100" dirty="0"/>
          </a:p>
        </p:txBody>
      </p:sp>
      <p:sp>
        <p:nvSpPr>
          <p:cNvPr id="6" name="Shape 4"/>
          <p:cNvSpPr/>
          <p:nvPr/>
        </p:nvSpPr>
        <p:spPr>
          <a:xfrm>
            <a:off x="10232136" y="420624"/>
            <a:ext cx="420624" cy="420624"/>
          </a:xfrm>
          <a:prstGeom prst="roundRect">
            <a:avLst>
              <a:gd name="adj" fmla="val 17391"/>
            </a:avLst>
          </a:prstGeom>
          <a:solidFill>
            <a:srgbClr val="FFFFFF"/>
          </a:solidFill>
          <a:ln w="12700">
            <a:solidFill>
              <a:srgbClr val="E2DFD8"/>
            </a:solidFill>
            <a:prstDash val="solid"/>
          </a:ln>
        </p:spPr>
      </p:sp>
      <p:sp>
        <p:nvSpPr>
          <p:cNvPr id="7" name="Text 5"/>
          <p:cNvSpPr txBox="1"/>
          <p:nvPr/>
        </p:nvSpPr>
        <p:spPr>
          <a:xfrm>
            <a:off x="10232136"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U</a:t>
            </a:r>
            <a:endParaRPr lang="en-US" sz="2100" dirty="0"/>
          </a:p>
        </p:txBody>
      </p:sp>
      <p:sp>
        <p:nvSpPr>
          <p:cNvPr id="8" name="Shape 6"/>
          <p:cNvSpPr/>
          <p:nvPr/>
        </p:nvSpPr>
        <p:spPr>
          <a:xfrm>
            <a:off x="10725912" y="420624"/>
            <a:ext cx="420624" cy="420624"/>
          </a:xfrm>
          <a:prstGeom prst="roundRect">
            <a:avLst>
              <a:gd name="adj" fmla="val 17391"/>
            </a:avLst>
          </a:prstGeom>
          <a:solidFill>
            <a:srgbClr val="7B5CC4"/>
          </a:solidFill>
          <a:ln w="12700">
            <a:solidFill>
              <a:srgbClr val="7B5CC4"/>
            </a:solidFill>
            <a:prstDash val="solid"/>
          </a:ln>
        </p:spPr>
      </p:sp>
      <p:sp>
        <p:nvSpPr>
          <p:cNvPr id="9" name="Text 7"/>
          <p:cNvSpPr txBox="1"/>
          <p:nvPr/>
        </p:nvSpPr>
        <p:spPr>
          <a:xfrm>
            <a:off x="10725912" y="420624"/>
            <a:ext cx="420624" cy="420624"/>
          </a:xfrm>
          <a:prstGeom prst="rect">
            <a:avLst/>
          </a:prstGeom>
          <a:noFill/>
          <a:ln/>
        </p:spPr>
        <p:txBody>
          <a:bodyPr wrap="square" lIns="0" tIns="0" rIns="0" bIns="0" rtlCol="0" anchor="ctr"/>
          <a:lstStyle/>
          <a:p>
            <a:pPr algn="ctr" indent="0" marL="0">
              <a:buNone/>
            </a:pPr>
            <a:r>
              <a:rPr lang="en-US" sz="2100" dirty="0">
                <a:solidFill>
                  <a:srgbClr val="FFFFFF"/>
                </a:solidFill>
                <a:latin typeface="Instrument Serif" pitchFamily="34" charset="0"/>
                <a:ea typeface="Instrument Serif" pitchFamily="34" charset="-122"/>
                <a:cs typeface="Instrument Serif" pitchFamily="34" charset="-120"/>
              </a:rPr>
              <a:t>C</a:t>
            </a:r>
            <a:endParaRPr lang="en-US" sz="2100" dirty="0"/>
          </a:p>
        </p:txBody>
      </p:sp>
      <p:sp>
        <p:nvSpPr>
          <p:cNvPr id="10" name="Shape 8"/>
          <p:cNvSpPr/>
          <p:nvPr/>
        </p:nvSpPr>
        <p:spPr>
          <a:xfrm>
            <a:off x="11219688" y="420624"/>
            <a:ext cx="420624" cy="420624"/>
          </a:xfrm>
          <a:prstGeom prst="roundRect">
            <a:avLst>
              <a:gd name="adj" fmla="val 17391"/>
            </a:avLst>
          </a:prstGeom>
          <a:solidFill>
            <a:srgbClr val="FFFFFF"/>
          </a:solidFill>
          <a:ln w="12700">
            <a:solidFill>
              <a:srgbClr val="E2DFD8"/>
            </a:solidFill>
            <a:prstDash val="solid"/>
          </a:ln>
        </p:spPr>
      </p:sp>
      <p:sp>
        <p:nvSpPr>
          <p:cNvPr id="11" name="Text 9"/>
          <p:cNvSpPr txBox="1"/>
          <p:nvPr/>
        </p:nvSpPr>
        <p:spPr>
          <a:xfrm>
            <a:off x="11219688"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H</a:t>
            </a:r>
            <a:endParaRPr lang="en-US" sz="2100" dirty="0"/>
          </a:p>
        </p:txBody>
      </p:sp>
      <p:sp>
        <p:nvSpPr>
          <p:cNvPr id="12" name="Text 10"/>
          <p:cNvSpPr txBox="1"/>
          <p:nvPr/>
        </p:nvSpPr>
        <p:spPr>
          <a:xfrm>
            <a:off x="548640" y="457200"/>
            <a:ext cx="7315200" cy="274320"/>
          </a:xfrm>
          <a:prstGeom prst="rect">
            <a:avLst/>
          </a:prstGeom>
          <a:noFill/>
          <a:ln/>
        </p:spPr>
        <p:txBody>
          <a:bodyPr wrap="square" lIns="0" tIns="0" rIns="0" bIns="0" rtlCol="0" anchor="t"/>
          <a:lstStyle/>
          <a:p>
            <a:pPr indent="0" marL="0">
              <a:buNone/>
            </a:pPr>
            <a:r>
              <a:rPr lang="en-US" sz="1200" b="1" spc="200" kern="0" dirty="0">
                <a:solidFill>
                  <a:srgbClr val="7B5CC4"/>
                </a:solidFill>
                <a:latin typeface="JetBrains Mono" pitchFamily="34" charset="0"/>
                <a:ea typeface="JetBrains Mono" pitchFamily="34" charset="-122"/>
                <a:cs typeface="JetBrains Mono" pitchFamily="34" charset="-120"/>
              </a:rPr>
              <a:t>C · CUT THE SENSORS</a:t>
            </a:r>
            <a:endParaRPr lang="en-US" sz="1200" dirty="0"/>
          </a:p>
        </p:txBody>
      </p:sp>
      <p:sp>
        <p:nvSpPr>
          <p:cNvPr id="13" name="Text 11"/>
          <p:cNvSpPr txBox="1"/>
          <p:nvPr/>
        </p:nvSpPr>
        <p:spPr>
          <a:xfrm>
            <a:off x="548640" y="786384"/>
            <a:ext cx="8503920" cy="777240"/>
          </a:xfrm>
          <a:prstGeom prst="rect">
            <a:avLst/>
          </a:prstGeom>
          <a:noFill/>
          <a:ln/>
        </p:spPr>
        <p:txBody>
          <a:bodyPr wrap="square" lIns="0" tIns="0" rIns="0" bIns="0" rtlCol="0" anchor="ctr"/>
          <a:lstStyle/>
          <a:p>
            <a:pPr indent="0" marL="0">
              <a:buNone/>
            </a:pPr>
            <a:r>
              <a:rPr lang="en-US" sz="4200" dirty="0">
                <a:solidFill>
                  <a:srgbClr val="1A1C20"/>
                </a:solidFill>
                <a:latin typeface="Instrument Serif" pitchFamily="34" charset="0"/>
                <a:ea typeface="Instrument Serif" pitchFamily="34" charset="-122"/>
                <a:cs typeface="Instrument Serif" pitchFamily="34" charset="-120"/>
              </a:rPr>
              <a:t>Cut the sensors. It gets </a:t>
            </a:r>
            <a:pPr indent="0" marL="0">
              <a:buNone/>
            </a:pPr>
            <a:r>
              <a:rPr lang="en-US" sz="4200" i="1" dirty="0">
                <a:solidFill>
                  <a:srgbClr val="7B5CC4"/>
                </a:solidFill>
                <a:latin typeface="Instrument Serif" pitchFamily="34" charset="0"/>
                <a:ea typeface="Instrument Serif" pitchFamily="34" charset="-122"/>
                <a:cs typeface="Instrument Serif" pitchFamily="34" charset="-120"/>
              </a:rPr>
              <a:t>better.</a:t>
            </a:r>
            <a:endParaRPr lang="en-US" sz="4200" dirty="0"/>
          </a:p>
        </p:txBody>
      </p:sp>
      <p:sp>
        <p:nvSpPr>
          <p:cNvPr id="14" name="Shape 12"/>
          <p:cNvSpPr/>
          <p:nvPr/>
        </p:nvSpPr>
        <p:spPr>
          <a:xfrm>
            <a:off x="548640" y="1810512"/>
            <a:ext cx="5074920" cy="1371600"/>
          </a:xfrm>
          <a:prstGeom prst="roundRect">
            <a:avLst>
              <a:gd name="adj" fmla="val 9333"/>
            </a:avLst>
          </a:prstGeom>
          <a:solidFill>
            <a:srgbClr val="FFFFFF"/>
          </a:solidFill>
          <a:ln w="12700">
            <a:solidFill>
              <a:srgbClr val="7B5CC4"/>
            </a:solidFill>
            <a:prstDash val="solid"/>
          </a:ln>
          <a:effectLst>
            <a:outerShdw sx="100000" sy="100000" kx="0" ky="0" algn="bl" rotWithShape="0" blurRad="63500" dist="19050" dir="5400000">
              <a:srgbClr val="000000">
                <a:alpha val="8000"/>
              </a:srgbClr>
            </a:outerShdw>
          </a:effectLst>
        </p:spPr>
      </p:sp>
      <p:sp>
        <p:nvSpPr>
          <p:cNvPr id="15" name="Shape 13"/>
          <p:cNvSpPr/>
          <p:nvPr/>
        </p:nvSpPr>
        <p:spPr>
          <a:xfrm>
            <a:off x="822960" y="2130552"/>
            <a:ext cx="731520" cy="731520"/>
          </a:xfrm>
          <a:prstGeom prst="ellipse">
            <a:avLst/>
          </a:prstGeom>
          <a:solidFill>
            <a:srgbClr val="EFEAFA"/>
          </a:solidFill>
          <a:ln w="12700">
            <a:solidFill>
              <a:srgbClr val="EFEAFA"/>
            </a:solidFill>
            <a:prstDash val="solid"/>
          </a:ln>
        </p:spPr>
      </p:sp>
      <p:pic>
        <p:nvPicPr>
          <p:cNvPr id="16" name="Image 0" descr="preencoded.png">    </p:cNvPr>
          <p:cNvPicPr>
            <a:picLocks noChangeAspect="1"/>
          </p:cNvPicPr>
          <p:nvPr/>
        </p:nvPicPr>
        <p:blipFill>
          <a:blip r:embed="rId1"/>
          <a:stretch>
            <a:fillRect/>
          </a:stretch>
        </p:blipFill>
        <p:spPr>
          <a:xfrm>
            <a:off x="1005840" y="2313432"/>
            <a:ext cx="365760" cy="365760"/>
          </a:xfrm>
          <a:prstGeom prst="rect">
            <a:avLst/>
          </a:prstGeom>
        </p:spPr>
      </p:pic>
      <p:sp>
        <p:nvSpPr>
          <p:cNvPr id="17" name="Text 14"/>
          <p:cNvSpPr txBox="1"/>
          <p:nvPr/>
        </p:nvSpPr>
        <p:spPr>
          <a:xfrm>
            <a:off x="1783080" y="2011680"/>
            <a:ext cx="3611880" cy="237744"/>
          </a:xfrm>
          <a:prstGeom prst="rect">
            <a:avLst/>
          </a:prstGeom>
          <a:noFill/>
          <a:ln/>
        </p:spPr>
        <p:txBody>
          <a:bodyPr wrap="square" lIns="0" tIns="0" rIns="0" bIns="0" rtlCol="0" anchor="t"/>
          <a:lstStyle/>
          <a:p>
            <a:pPr indent="0" marL="0">
              <a:buNone/>
            </a:pPr>
            <a:r>
              <a:rPr lang="en-US" sz="1100" b="1" spc="150" kern="0" dirty="0">
                <a:solidFill>
                  <a:srgbClr val="7B5CC4"/>
                </a:solidFill>
                <a:latin typeface="JetBrains Mono" pitchFamily="34" charset="0"/>
                <a:ea typeface="JetBrains Mono" pitchFamily="34" charset="-122"/>
                <a:cs typeface="JetBrains Mono" pitchFamily="34" charset="-120"/>
              </a:rPr>
              <a:t>TEACHER</a:t>
            </a:r>
            <a:endParaRPr lang="en-US" sz="1100" dirty="0"/>
          </a:p>
        </p:txBody>
      </p:sp>
      <p:sp>
        <p:nvSpPr>
          <p:cNvPr id="18" name="Text 15"/>
          <p:cNvSpPr txBox="1"/>
          <p:nvPr/>
        </p:nvSpPr>
        <p:spPr>
          <a:xfrm>
            <a:off x="1783080" y="2249424"/>
            <a:ext cx="3611880" cy="475488"/>
          </a:xfrm>
          <a:prstGeom prst="rect">
            <a:avLst/>
          </a:prstGeom>
          <a:noFill/>
          <a:ln/>
        </p:spPr>
        <p:txBody>
          <a:bodyPr wrap="square" lIns="0" tIns="0" rIns="0" bIns="0" rtlCol="0" anchor="ctr"/>
          <a:lstStyle/>
          <a:p>
            <a:pPr indent="0" marL="0">
              <a:buNone/>
            </a:pPr>
            <a:r>
              <a:rPr lang="en-US" sz="2800" dirty="0">
                <a:solidFill>
                  <a:srgbClr val="1A1C20"/>
                </a:solidFill>
                <a:latin typeface="Instrument Serif" pitchFamily="34" charset="0"/>
                <a:ea typeface="Instrument Serif" pitchFamily="34" charset="-122"/>
                <a:cs typeface="Instrument Serif" pitchFamily="34" charset="-120"/>
              </a:rPr>
              <a:t>SmolVLA + touch</a:t>
            </a:r>
            <a:endParaRPr lang="en-US" sz="2800" dirty="0"/>
          </a:p>
        </p:txBody>
      </p:sp>
      <p:sp>
        <p:nvSpPr>
          <p:cNvPr id="19" name="Text 16"/>
          <p:cNvSpPr txBox="1"/>
          <p:nvPr/>
        </p:nvSpPr>
        <p:spPr>
          <a:xfrm>
            <a:off x="1783080" y="2724912"/>
            <a:ext cx="3611880" cy="292608"/>
          </a:xfrm>
          <a:prstGeom prst="rect">
            <a:avLst/>
          </a:prstGeom>
          <a:noFill/>
          <a:ln/>
        </p:spPr>
        <p:txBody>
          <a:bodyPr wrap="square" lIns="0" tIns="0" rIns="0" bIns="0" rtlCol="0" anchor="ctr"/>
          <a:lstStyle/>
          <a:p>
            <a:pPr indent="0" marL="0">
              <a:buNone/>
            </a:pPr>
            <a:r>
              <a:rPr lang="en-US" sz="1350" dirty="0">
                <a:solidFill>
                  <a:srgbClr val="5B6068"/>
                </a:solidFill>
                <a:latin typeface="IBM Plex Sans" pitchFamily="34" charset="0"/>
                <a:ea typeface="IBM Plex Sans" pitchFamily="34" charset="-122"/>
                <a:cs typeface="IBM Plex Sans" pitchFamily="34" charset="-120"/>
              </a:rPr>
              <a:t>Feels. Labels all the data once, offline.</a:t>
            </a:r>
            <a:endParaRPr lang="en-US" sz="1350" dirty="0"/>
          </a:p>
        </p:txBody>
      </p:sp>
      <p:sp>
        <p:nvSpPr>
          <p:cNvPr id="20" name="Shape 17"/>
          <p:cNvSpPr/>
          <p:nvPr/>
        </p:nvSpPr>
        <p:spPr>
          <a:xfrm>
            <a:off x="548640" y="3822192"/>
            <a:ext cx="5074920" cy="1371600"/>
          </a:xfrm>
          <a:prstGeom prst="roundRect">
            <a:avLst>
              <a:gd name="adj" fmla="val 9333"/>
            </a:avLst>
          </a:prstGeom>
          <a:solidFill>
            <a:srgbClr val="EFEAFA"/>
          </a:solidFill>
          <a:ln w="12700">
            <a:solidFill>
              <a:srgbClr val="7B5CC4"/>
            </a:solidFill>
            <a:prstDash val="solid"/>
          </a:ln>
          <a:effectLst>
            <a:outerShdw sx="100000" sy="100000" kx="0" ky="0" algn="bl" rotWithShape="0" blurRad="63500" dist="19050" dir="5400000">
              <a:srgbClr val="000000">
                <a:alpha val="8000"/>
              </a:srgbClr>
            </a:outerShdw>
          </a:effectLst>
        </p:spPr>
      </p:sp>
      <p:sp>
        <p:nvSpPr>
          <p:cNvPr id="21" name="Shape 18"/>
          <p:cNvSpPr/>
          <p:nvPr/>
        </p:nvSpPr>
        <p:spPr>
          <a:xfrm>
            <a:off x="822960" y="4142232"/>
            <a:ext cx="731520" cy="731520"/>
          </a:xfrm>
          <a:prstGeom prst="ellipse">
            <a:avLst/>
          </a:prstGeom>
          <a:solidFill>
            <a:srgbClr val="FFFFFF"/>
          </a:solidFill>
          <a:ln w="12700">
            <a:solidFill>
              <a:srgbClr val="EFEAFA"/>
            </a:solidFill>
            <a:prstDash val="solid"/>
          </a:ln>
        </p:spPr>
      </p:sp>
      <p:pic>
        <p:nvPicPr>
          <p:cNvPr id="22" name="Image 1" descr="preencoded.png">    </p:cNvPr>
          <p:cNvPicPr>
            <a:picLocks noChangeAspect="1"/>
          </p:cNvPicPr>
          <p:nvPr/>
        </p:nvPicPr>
        <p:blipFill>
          <a:blip r:embed="rId2"/>
          <a:stretch>
            <a:fillRect/>
          </a:stretch>
        </p:blipFill>
        <p:spPr>
          <a:xfrm>
            <a:off x="1005840" y="4325112"/>
            <a:ext cx="365760" cy="365760"/>
          </a:xfrm>
          <a:prstGeom prst="rect">
            <a:avLst/>
          </a:prstGeom>
        </p:spPr>
      </p:pic>
      <p:sp>
        <p:nvSpPr>
          <p:cNvPr id="23" name="Text 19"/>
          <p:cNvSpPr txBox="1"/>
          <p:nvPr/>
        </p:nvSpPr>
        <p:spPr>
          <a:xfrm>
            <a:off x="1783080" y="4023360"/>
            <a:ext cx="3611880" cy="237744"/>
          </a:xfrm>
          <a:prstGeom prst="rect">
            <a:avLst/>
          </a:prstGeom>
          <a:noFill/>
          <a:ln/>
        </p:spPr>
        <p:txBody>
          <a:bodyPr wrap="square" lIns="0" tIns="0" rIns="0" bIns="0" rtlCol="0" anchor="t"/>
          <a:lstStyle/>
          <a:p>
            <a:pPr indent="0" marL="0">
              <a:buNone/>
            </a:pPr>
            <a:r>
              <a:rPr lang="en-US" sz="1100" b="1" spc="150" kern="0" dirty="0">
                <a:solidFill>
                  <a:srgbClr val="7B5CC4"/>
                </a:solidFill>
                <a:latin typeface="JetBrains Mono" pitchFamily="34" charset="0"/>
                <a:ea typeface="JetBrains Mono" pitchFamily="34" charset="-122"/>
                <a:cs typeface="JetBrains Mono" pitchFamily="34" charset="-120"/>
              </a:rPr>
              <a:t>STUDENT  =  HapticVLA</a:t>
            </a:r>
            <a:endParaRPr lang="en-US" sz="1100" dirty="0"/>
          </a:p>
        </p:txBody>
      </p:sp>
      <p:sp>
        <p:nvSpPr>
          <p:cNvPr id="24" name="Text 20"/>
          <p:cNvSpPr txBox="1"/>
          <p:nvPr/>
        </p:nvSpPr>
        <p:spPr>
          <a:xfrm>
            <a:off x="1783080" y="4261104"/>
            <a:ext cx="3611880" cy="475488"/>
          </a:xfrm>
          <a:prstGeom prst="rect">
            <a:avLst/>
          </a:prstGeom>
          <a:noFill/>
          <a:ln/>
        </p:spPr>
        <p:txBody>
          <a:bodyPr wrap="square" lIns="0" tIns="0" rIns="0" bIns="0" rtlCol="0" anchor="ctr"/>
          <a:lstStyle/>
          <a:p>
            <a:pPr indent="0" marL="0">
              <a:buNone/>
            </a:pPr>
            <a:r>
              <a:rPr lang="en-US" sz="2800" dirty="0">
                <a:solidFill>
                  <a:srgbClr val="1A1C20"/>
                </a:solidFill>
                <a:latin typeface="Instrument Serif" pitchFamily="34" charset="0"/>
                <a:ea typeface="Instrument Serif" pitchFamily="34" charset="-122"/>
                <a:cs typeface="Instrument Serif" pitchFamily="34" charset="-120"/>
              </a:rPr>
              <a:t>Same SmolVLA, no touch</a:t>
            </a:r>
            <a:endParaRPr lang="en-US" sz="2800" dirty="0"/>
          </a:p>
        </p:txBody>
      </p:sp>
      <p:sp>
        <p:nvSpPr>
          <p:cNvPr id="25" name="Text 21"/>
          <p:cNvSpPr txBox="1"/>
          <p:nvPr/>
        </p:nvSpPr>
        <p:spPr>
          <a:xfrm>
            <a:off x="1783080" y="4736592"/>
            <a:ext cx="3611880" cy="292608"/>
          </a:xfrm>
          <a:prstGeom prst="rect">
            <a:avLst/>
          </a:prstGeom>
          <a:noFill/>
          <a:ln/>
        </p:spPr>
        <p:txBody>
          <a:bodyPr wrap="square" lIns="0" tIns="0" rIns="0" bIns="0" rtlCol="0" anchor="ctr"/>
          <a:lstStyle/>
          <a:p>
            <a:pPr indent="0" marL="0">
              <a:buNone/>
            </a:pPr>
            <a:r>
              <a:rPr lang="en-US" sz="1350" dirty="0">
                <a:solidFill>
                  <a:srgbClr val="5B6068"/>
                </a:solidFill>
                <a:latin typeface="IBM Plex Sans" pitchFamily="34" charset="0"/>
                <a:ea typeface="IBM Plex Sans" pitchFamily="34" charset="-122"/>
                <a:cs typeface="IBM Plex Sans" pitchFamily="34" charset="-120"/>
              </a:rPr>
              <a:t>Cameras + joint angles only. Still 0.45B.</a:t>
            </a:r>
            <a:endParaRPr lang="en-US" sz="1350" dirty="0"/>
          </a:p>
        </p:txBody>
      </p:sp>
      <p:pic>
        <p:nvPicPr>
          <p:cNvPr id="26" name="Image 2" descr="preencoded.png">    </p:cNvPr>
          <p:cNvPicPr>
            <a:picLocks noChangeAspect="1"/>
          </p:cNvPicPr>
          <p:nvPr/>
        </p:nvPicPr>
        <p:blipFill>
          <a:blip r:embed="rId3"/>
          <a:stretch>
            <a:fillRect/>
          </a:stretch>
        </p:blipFill>
        <p:spPr>
          <a:xfrm>
            <a:off x="1005840" y="3310128"/>
            <a:ext cx="365760" cy="365760"/>
          </a:xfrm>
          <a:prstGeom prst="rect">
            <a:avLst/>
          </a:prstGeom>
        </p:spPr>
      </p:pic>
      <p:sp>
        <p:nvSpPr>
          <p:cNvPr id="27" name="Text 22"/>
          <p:cNvSpPr txBox="1"/>
          <p:nvPr/>
        </p:nvSpPr>
        <p:spPr>
          <a:xfrm>
            <a:off x="1508760" y="3291840"/>
            <a:ext cx="4069080" cy="402336"/>
          </a:xfrm>
          <a:prstGeom prst="rect">
            <a:avLst/>
          </a:prstGeom>
          <a:noFill/>
          <a:ln/>
        </p:spPr>
        <p:txBody>
          <a:bodyPr wrap="square" lIns="0" tIns="0" rIns="0" bIns="0" rtlCol="0" anchor="ctr"/>
          <a:lstStyle/>
          <a:p>
            <a:pPr indent="0" marL="0">
              <a:buNone/>
            </a:pPr>
            <a:r>
              <a:rPr lang="en-US" sz="1050" dirty="0">
                <a:solidFill>
                  <a:srgbClr val="7B5CC4"/>
                </a:solidFill>
                <a:latin typeface="JetBrains Mono" pitchFamily="34" charset="0"/>
                <a:ea typeface="JetBrains Mono" pitchFamily="34" charset="-122"/>
                <a:cs typeface="JetBrains Mono" pitchFamily="34" charset="-120"/>
              </a:rPr>
              <a:t>learns from 50 / 50: human demos + teacher actions</a:t>
            </a:r>
            <a:endParaRPr lang="en-US" sz="1050" dirty="0"/>
          </a:p>
        </p:txBody>
      </p:sp>
      <p:sp>
        <p:nvSpPr>
          <p:cNvPr id="28" name="Shape 23"/>
          <p:cNvSpPr/>
          <p:nvPr/>
        </p:nvSpPr>
        <p:spPr>
          <a:xfrm>
            <a:off x="5943600" y="1810512"/>
            <a:ext cx="5696712" cy="3383280"/>
          </a:xfrm>
          <a:prstGeom prst="roundRect">
            <a:avLst>
              <a:gd name="adj" fmla="val 3784"/>
            </a:avLst>
          </a:prstGeom>
          <a:solidFill>
            <a:srgbClr val="FFFFFF"/>
          </a:solidFill>
          <a:ln w="12700">
            <a:solidFill>
              <a:srgbClr val="E2DFD8"/>
            </a:solidFill>
            <a:prstDash val="solid"/>
          </a:ln>
          <a:effectLst>
            <a:outerShdw sx="100000" sy="100000" kx="0" ky="0" algn="bl" rotWithShape="0" blurRad="63500" dist="19050" dir="5400000">
              <a:srgbClr val="000000">
                <a:alpha val="8000"/>
              </a:srgbClr>
            </a:outerShdw>
          </a:effectLst>
        </p:spPr>
      </p:sp>
      <p:sp>
        <p:nvSpPr>
          <p:cNvPr id="29" name="Text 24"/>
          <p:cNvSpPr txBox="1"/>
          <p:nvPr/>
        </p:nvSpPr>
        <p:spPr>
          <a:xfrm>
            <a:off x="6217920" y="1993392"/>
            <a:ext cx="5148072" cy="237744"/>
          </a:xfrm>
          <a:prstGeom prst="rect">
            <a:avLst/>
          </a:prstGeom>
          <a:noFill/>
          <a:ln/>
        </p:spPr>
        <p:txBody>
          <a:bodyPr wrap="square" lIns="0" tIns="0" rIns="0" bIns="0" rtlCol="0" anchor="t"/>
          <a:lstStyle/>
          <a:p>
            <a:pPr indent="0" marL="0">
              <a:buNone/>
            </a:pPr>
            <a:r>
              <a:rPr lang="en-US" sz="1050" b="1" spc="150" kern="0" dirty="0">
                <a:solidFill>
                  <a:srgbClr val="5B6068"/>
                </a:solidFill>
                <a:latin typeface="JetBrains Mono" pitchFamily="34" charset="0"/>
                <a:ea typeface="JetBrains Mono" pitchFamily="34" charset="-122"/>
                <a:cs typeface="JetBrains Mono" pitchFamily="34" charset="-120"/>
              </a:rPr>
              <a:t>MEAN SUCCESS  ·  3 REAL-WORLD TASKS</a:t>
            </a:r>
            <a:endParaRPr lang="en-US" sz="1050" dirty="0"/>
          </a:p>
        </p:txBody>
      </p:sp>
      <p:graphicFrame>
        <p:nvGraphicFramePr>
          <p:cNvPr id="30" name="Chart 0" descr=""/>
          <p:cNvGraphicFramePr/>
          <p:nvPr/>
        </p:nvGraphicFramePr>
        <p:xfrm>
          <a:off x="6080760" y="2286000"/>
          <a:ext cx="5422392" cy="2788920"/>
        </p:xfrm>
        <a:graphic xmlns:a="http://schemas.openxmlformats.org/drawingml/2006/main">
          <a:graphicData uri="http://schemas.openxmlformats.org/drawingml/2006/chart">
            <c:chart xmlns:c="http://schemas.openxmlformats.org/drawingml/2006/chart" r:id="rId4"/>
          </a:graphicData>
        </a:graphic>
      </p:graphicFrame>
      <p:sp>
        <p:nvSpPr>
          <p:cNvPr id="31" name="Shape 25"/>
          <p:cNvSpPr/>
          <p:nvPr/>
        </p:nvSpPr>
        <p:spPr>
          <a:xfrm>
            <a:off x="548640" y="5440680"/>
            <a:ext cx="11091672" cy="749808"/>
          </a:xfrm>
          <a:prstGeom prst="roundRect">
            <a:avLst>
              <a:gd name="adj" fmla="val 12195"/>
            </a:avLst>
          </a:prstGeom>
          <a:solidFill>
            <a:srgbClr val="EFEAFA"/>
          </a:solidFill>
          <a:ln w="12700">
            <a:solidFill>
              <a:srgbClr val="EFEAFA"/>
            </a:solidFill>
            <a:prstDash val="solid"/>
          </a:ln>
        </p:spPr>
      </p:sp>
      <p:pic>
        <p:nvPicPr>
          <p:cNvPr id="32" name="Image 3" descr="preencoded.png">    </p:cNvPr>
          <p:cNvPicPr>
            <a:picLocks noChangeAspect="1"/>
          </p:cNvPicPr>
          <p:nvPr/>
        </p:nvPicPr>
        <p:blipFill>
          <a:blip r:embed="rId5"/>
          <a:stretch>
            <a:fillRect/>
          </a:stretch>
        </p:blipFill>
        <p:spPr>
          <a:xfrm>
            <a:off x="777240" y="5632704"/>
            <a:ext cx="365760" cy="365760"/>
          </a:xfrm>
          <a:prstGeom prst="rect">
            <a:avLst/>
          </a:prstGeom>
        </p:spPr>
      </p:pic>
      <p:sp>
        <p:nvSpPr>
          <p:cNvPr id="33" name="Text 26"/>
          <p:cNvSpPr txBox="1"/>
          <p:nvPr/>
        </p:nvSpPr>
        <p:spPr>
          <a:xfrm>
            <a:off x="1325880" y="5440680"/>
            <a:ext cx="7498080" cy="749808"/>
          </a:xfrm>
          <a:prstGeom prst="rect">
            <a:avLst/>
          </a:prstGeom>
          <a:noFill/>
          <a:ln/>
        </p:spPr>
        <p:txBody>
          <a:bodyPr wrap="square" lIns="0" tIns="0" rIns="0" bIns="0" rtlCol="0" anchor="ctr"/>
          <a:lstStyle/>
          <a:p>
            <a:pPr indent="0" marL="0">
              <a:buNone/>
            </a:pPr>
            <a:r>
              <a:rPr lang="en-US" sz="2700" dirty="0">
                <a:solidFill>
                  <a:srgbClr val="1A1C20"/>
                </a:solidFill>
                <a:latin typeface="Instrument Serif" pitchFamily="34" charset="0"/>
                <a:ea typeface="Instrument Serif" pitchFamily="34" charset="-122"/>
                <a:cs typeface="Instrument Serif" pitchFamily="34" charset="-120"/>
              </a:rPr>
              <a:t>The student that can't feel </a:t>
            </a:r>
            <a:pPr indent="0" marL="0">
              <a:buNone/>
            </a:pPr>
            <a:r>
              <a:rPr lang="en-US" sz="2700" i="1" dirty="0">
                <a:solidFill>
                  <a:srgbClr val="7B5CC4"/>
                </a:solidFill>
                <a:latin typeface="Instrument Serif" pitchFamily="34" charset="0"/>
                <a:ea typeface="Instrument Serif" pitchFamily="34" charset="-122"/>
                <a:cs typeface="Instrument Serif" pitchFamily="34" charset="-120"/>
              </a:rPr>
              <a:t>beats</a:t>
            </a:r>
            <a:pPr indent="0" marL="0">
              <a:buNone/>
            </a:pPr>
            <a:r>
              <a:rPr lang="en-US" sz="2700" dirty="0">
                <a:solidFill>
                  <a:srgbClr val="1A1C20"/>
                </a:solidFill>
                <a:latin typeface="Instrument Serif" pitchFamily="34" charset="0"/>
                <a:ea typeface="Instrument Serif" pitchFamily="34" charset="-122"/>
                <a:cs typeface="Instrument Serif" pitchFamily="34" charset="-120"/>
              </a:rPr>
              <a:t> the teacher that can.</a:t>
            </a:r>
            <a:endParaRPr lang="en-US" sz="2700" dirty="0"/>
          </a:p>
        </p:txBody>
      </p:sp>
      <p:sp>
        <p:nvSpPr>
          <p:cNvPr id="34" name="Text 27"/>
          <p:cNvSpPr txBox="1"/>
          <p:nvPr/>
        </p:nvSpPr>
        <p:spPr>
          <a:xfrm>
            <a:off x="8778240" y="5440680"/>
            <a:ext cx="2651760" cy="749808"/>
          </a:xfrm>
          <a:prstGeom prst="rect">
            <a:avLst/>
          </a:prstGeom>
          <a:noFill/>
          <a:ln/>
        </p:spPr>
        <p:txBody>
          <a:bodyPr wrap="square" lIns="0" tIns="0" rIns="0" bIns="0" rtlCol="0" anchor="ctr"/>
          <a:lstStyle/>
          <a:p>
            <a:pPr algn="r" indent="0" marL="0">
              <a:buNone/>
            </a:pPr>
            <a:r>
              <a:rPr lang="en-US" sz="1600" b="1" dirty="0">
                <a:solidFill>
                  <a:srgbClr val="7B5CC4"/>
                </a:solidFill>
                <a:latin typeface="JetBrains Mono" pitchFamily="34" charset="0"/>
                <a:ea typeface="JetBrains Mono" pitchFamily="34" charset="-122"/>
                <a:cs typeface="JetBrains Mono" pitchFamily="34" charset="-120"/>
              </a:rPr>
              <a:t>86.7%  vs  75.0%</a:t>
            </a:r>
            <a:endParaRPr lang="en-US" sz="1600" dirty="0"/>
          </a:p>
        </p:txBody>
      </p:sp>
      <p:sp>
        <p:nvSpPr>
          <p:cNvPr id="35" name="Text 28"/>
          <p:cNvSpPr txBox="1"/>
          <p:nvPr/>
        </p:nvSpPr>
        <p:spPr>
          <a:xfrm>
            <a:off x="548640" y="6419088"/>
            <a:ext cx="7772400" cy="201168"/>
          </a:xfrm>
          <a:prstGeom prst="rect">
            <a:avLst/>
          </a:prstGeom>
          <a:noFill/>
          <a:ln/>
        </p:spPr>
        <p:txBody>
          <a:bodyPr wrap="square" lIns="0" tIns="0" rIns="0" bIns="0" rtlCol="0" anchor="ctr"/>
          <a:lstStyle/>
          <a:p>
            <a:pPr indent="0" marL="0">
              <a:buNone/>
            </a:pPr>
            <a:r>
              <a:rPr lang="en-US" sz="900" dirty="0">
                <a:solidFill>
                  <a:srgbClr val="8A8E95"/>
                </a:solidFill>
                <a:latin typeface="JetBrains Mono" pitchFamily="34" charset="0"/>
                <a:ea typeface="JetBrains Mono" pitchFamily="34" charset="-122"/>
                <a:cs typeface="JetBrains Mono" pitchFamily="34" charset="-120"/>
              </a:rPr>
              <a:t>HapticVLA  ·  teacher = SmolVLA + SA-RWFM with tactile input  ·  student = Tactile Distillation</a:t>
            </a:r>
            <a:endParaRPr lang="en-US" sz="900" dirty="0"/>
          </a:p>
        </p:txBody>
      </p:sp>
      <p:pic>
        <p:nvPicPr>
          <p:cNvPr id="36" name="Image 4" descr="/tmp/claude-0/deck/assets/skoltech_dark.png">    </p:cNvPr>
          <p:cNvPicPr>
            <a:picLocks noChangeAspect="1"/>
          </p:cNvPicPr>
          <p:nvPr/>
        </p:nvPicPr>
        <p:blipFill>
          <a:blip r:embed="rId6"/>
          <a:stretch>
            <a:fillRect/>
          </a:stretch>
        </p:blipFill>
        <p:spPr>
          <a:xfrm>
            <a:off x="10771632" y="6437376"/>
            <a:ext cx="868680" cy="1463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C"/>
        </a:solidFill>
      </p:bgPr>
    </p:bg>
    <p:spTree>
      <p:nvGrpSpPr>
        <p:cNvPr id="1" name=""/>
        <p:cNvGrpSpPr/>
        <p:nvPr/>
      </p:nvGrpSpPr>
      <p:grpSpPr>
        <a:xfrm>
          <a:off x="0" y="0"/>
          <a:ext cx="0" cy="0"/>
          <a:chOff x="0" y="0"/>
          <a:chExt cx="0" cy="0"/>
        </a:xfrm>
      </p:grpSpPr>
      <p:sp>
        <p:nvSpPr>
          <p:cNvPr id="2" name="Shape 0"/>
          <p:cNvSpPr/>
          <p:nvPr/>
        </p:nvSpPr>
        <p:spPr>
          <a:xfrm>
            <a:off x="9244584" y="420624"/>
            <a:ext cx="420624" cy="420624"/>
          </a:xfrm>
          <a:prstGeom prst="roundRect">
            <a:avLst>
              <a:gd name="adj" fmla="val 17391"/>
            </a:avLst>
          </a:prstGeom>
          <a:solidFill>
            <a:srgbClr val="FFFFFF"/>
          </a:solidFill>
          <a:ln w="12700">
            <a:solidFill>
              <a:srgbClr val="E2DFD8"/>
            </a:solidFill>
            <a:prstDash val="solid"/>
          </a:ln>
        </p:spPr>
      </p:sp>
      <p:sp>
        <p:nvSpPr>
          <p:cNvPr id="3" name="Text 1"/>
          <p:cNvSpPr txBox="1"/>
          <p:nvPr/>
        </p:nvSpPr>
        <p:spPr>
          <a:xfrm>
            <a:off x="9244584"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T</a:t>
            </a:r>
            <a:endParaRPr lang="en-US" sz="2100" dirty="0"/>
          </a:p>
        </p:txBody>
      </p:sp>
      <p:sp>
        <p:nvSpPr>
          <p:cNvPr id="4" name="Shape 2"/>
          <p:cNvSpPr/>
          <p:nvPr/>
        </p:nvSpPr>
        <p:spPr>
          <a:xfrm>
            <a:off x="9738360" y="420624"/>
            <a:ext cx="420624" cy="420624"/>
          </a:xfrm>
          <a:prstGeom prst="roundRect">
            <a:avLst>
              <a:gd name="adj" fmla="val 17391"/>
            </a:avLst>
          </a:prstGeom>
          <a:solidFill>
            <a:srgbClr val="FFFFFF"/>
          </a:solidFill>
          <a:ln w="12700">
            <a:solidFill>
              <a:srgbClr val="E2DFD8"/>
            </a:solidFill>
            <a:prstDash val="solid"/>
          </a:ln>
        </p:spPr>
      </p:sp>
      <p:sp>
        <p:nvSpPr>
          <p:cNvPr id="5" name="Text 3"/>
          <p:cNvSpPr txBox="1"/>
          <p:nvPr/>
        </p:nvSpPr>
        <p:spPr>
          <a:xfrm>
            <a:off x="9738360"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O</a:t>
            </a:r>
            <a:endParaRPr lang="en-US" sz="2100" dirty="0"/>
          </a:p>
        </p:txBody>
      </p:sp>
      <p:sp>
        <p:nvSpPr>
          <p:cNvPr id="6" name="Shape 4"/>
          <p:cNvSpPr/>
          <p:nvPr/>
        </p:nvSpPr>
        <p:spPr>
          <a:xfrm>
            <a:off x="10232136" y="420624"/>
            <a:ext cx="420624" cy="420624"/>
          </a:xfrm>
          <a:prstGeom prst="roundRect">
            <a:avLst>
              <a:gd name="adj" fmla="val 17391"/>
            </a:avLst>
          </a:prstGeom>
          <a:solidFill>
            <a:srgbClr val="FFFFFF"/>
          </a:solidFill>
          <a:ln w="12700">
            <a:solidFill>
              <a:srgbClr val="E2DFD8"/>
            </a:solidFill>
            <a:prstDash val="solid"/>
          </a:ln>
        </p:spPr>
      </p:sp>
      <p:sp>
        <p:nvSpPr>
          <p:cNvPr id="7" name="Text 5"/>
          <p:cNvSpPr txBox="1"/>
          <p:nvPr/>
        </p:nvSpPr>
        <p:spPr>
          <a:xfrm>
            <a:off x="10232136"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U</a:t>
            </a:r>
            <a:endParaRPr lang="en-US" sz="2100" dirty="0"/>
          </a:p>
        </p:txBody>
      </p:sp>
      <p:sp>
        <p:nvSpPr>
          <p:cNvPr id="8" name="Shape 6"/>
          <p:cNvSpPr/>
          <p:nvPr/>
        </p:nvSpPr>
        <p:spPr>
          <a:xfrm>
            <a:off x="10725912" y="420624"/>
            <a:ext cx="420624" cy="420624"/>
          </a:xfrm>
          <a:prstGeom prst="roundRect">
            <a:avLst>
              <a:gd name="adj" fmla="val 17391"/>
            </a:avLst>
          </a:prstGeom>
          <a:solidFill>
            <a:srgbClr val="FFFFFF"/>
          </a:solidFill>
          <a:ln w="12700">
            <a:solidFill>
              <a:srgbClr val="E2DFD8"/>
            </a:solidFill>
            <a:prstDash val="solid"/>
          </a:ln>
        </p:spPr>
      </p:sp>
      <p:sp>
        <p:nvSpPr>
          <p:cNvPr id="9" name="Text 7"/>
          <p:cNvSpPr txBox="1"/>
          <p:nvPr/>
        </p:nvSpPr>
        <p:spPr>
          <a:xfrm>
            <a:off x="10725912" y="420624"/>
            <a:ext cx="420624" cy="420624"/>
          </a:xfrm>
          <a:prstGeom prst="rect">
            <a:avLst/>
          </a:prstGeom>
          <a:noFill/>
          <a:ln/>
        </p:spPr>
        <p:txBody>
          <a:bodyPr wrap="square" lIns="0" tIns="0" rIns="0" bIns="0" rtlCol="0" anchor="ctr"/>
          <a:lstStyle/>
          <a:p>
            <a:pPr algn="ctr" indent="0" marL="0">
              <a:buNone/>
            </a:pPr>
            <a:r>
              <a:rPr lang="en-US" sz="2100" dirty="0">
                <a:solidFill>
                  <a:srgbClr val="B9B6AE"/>
                </a:solidFill>
                <a:latin typeface="Instrument Serif" pitchFamily="34" charset="0"/>
                <a:ea typeface="Instrument Serif" pitchFamily="34" charset="-122"/>
                <a:cs typeface="Instrument Serif" pitchFamily="34" charset="-120"/>
              </a:rPr>
              <a:t>C</a:t>
            </a:r>
            <a:endParaRPr lang="en-US" sz="2100" dirty="0"/>
          </a:p>
        </p:txBody>
      </p:sp>
      <p:sp>
        <p:nvSpPr>
          <p:cNvPr id="10" name="Shape 8"/>
          <p:cNvSpPr/>
          <p:nvPr/>
        </p:nvSpPr>
        <p:spPr>
          <a:xfrm>
            <a:off x="11219688" y="420624"/>
            <a:ext cx="420624" cy="420624"/>
          </a:xfrm>
          <a:prstGeom prst="roundRect">
            <a:avLst>
              <a:gd name="adj" fmla="val 17391"/>
            </a:avLst>
          </a:prstGeom>
          <a:solidFill>
            <a:srgbClr val="E3862E"/>
          </a:solidFill>
          <a:ln w="12700">
            <a:solidFill>
              <a:srgbClr val="E3862E"/>
            </a:solidFill>
            <a:prstDash val="solid"/>
          </a:ln>
        </p:spPr>
      </p:sp>
      <p:sp>
        <p:nvSpPr>
          <p:cNvPr id="11" name="Text 9"/>
          <p:cNvSpPr txBox="1"/>
          <p:nvPr/>
        </p:nvSpPr>
        <p:spPr>
          <a:xfrm>
            <a:off x="11219688" y="420624"/>
            <a:ext cx="420624" cy="420624"/>
          </a:xfrm>
          <a:prstGeom prst="rect">
            <a:avLst/>
          </a:prstGeom>
          <a:noFill/>
          <a:ln/>
        </p:spPr>
        <p:txBody>
          <a:bodyPr wrap="square" lIns="0" tIns="0" rIns="0" bIns="0" rtlCol="0" anchor="ctr"/>
          <a:lstStyle/>
          <a:p>
            <a:pPr algn="ctr" indent="0" marL="0">
              <a:buNone/>
            </a:pPr>
            <a:r>
              <a:rPr lang="en-US" sz="2100" dirty="0">
                <a:solidFill>
                  <a:srgbClr val="FFFFFF"/>
                </a:solidFill>
                <a:latin typeface="Instrument Serif" pitchFamily="34" charset="0"/>
                <a:ea typeface="Instrument Serif" pitchFamily="34" charset="-122"/>
                <a:cs typeface="Instrument Serif" pitchFamily="34" charset="-120"/>
              </a:rPr>
              <a:t>H</a:t>
            </a:r>
            <a:endParaRPr lang="en-US" sz="2100" dirty="0"/>
          </a:p>
        </p:txBody>
      </p:sp>
      <p:sp>
        <p:nvSpPr>
          <p:cNvPr id="12" name="Text 10"/>
          <p:cNvSpPr txBox="1"/>
          <p:nvPr/>
        </p:nvSpPr>
        <p:spPr>
          <a:xfrm>
            <a:off x="548640" y="457200"/>
            <a:ext cx="7315200" cy="274320"/>
          </a:xfrm>
          <a:prstGeom prst="rect">
            <a:avLst/>
          </a:prstGeom>
          <a:noFill/>
          <a:ln/>
        </p:spPr>
        <p:txBody>
          <a:bodyPr wrap="square" lIns="0" tIns="0" rIns="0" bIns="0" rtlCol="0" anchor="t"/>
          <a:lstStyle/>
          <a:p>
            <a:pPr indent="0" marL="0">
              <a:buNone/>
            </a:pPr>
            <a:r>
              <a:rPr lang="en-US" sz="1200" b="1" spc="200" kern="0" dirty="0">
                <a:solidFill>
                  <a:srgbClr val="E3862E"/>
                </a:solidFill>
                <a:latin typeface="JetBrains Mono" pitchFamily="34" charset="0"/>
                <a:ea typeface="JetBrains Mono" pitchFamily="34" charset="-122"/>
                <a:cs typeface="JetBrains Mono" pitchFamily="34" charset="-120"/>
              </a:rPr>
              <a:t>H · HOLD THE EGG</a:t>
            </a:r>
            <a:endParaRPr lang="en-US" sz="1200" dirty="0"/>
          </a:p>
        </p:txBody>
      </p:sp>
      <p:sp>
        <p:nvSpPr>
          <p:cNvPr id="13" name="Text 11"/>
          <p:cNvSpPr txBox="1"/>
          <p:nvPr/>
        </p:nvSpPr>
        <p:spPr>
          <a:xfrm>
            <a:off x="548640" y="786384"/>
            <a:ext cx="8503920" cy="777240"/>
          </a:xfrm>
          <a:prstGeom prst="rect">
            <a:avLst/>
          </a:prstGeom>
          <a:noFill/>
          <a:ln/>
        </p:spPr>
        <p:txBody>
          <a:bodyPr wrap="square" lIns="0" tIns="0" rIns="0" bIns="0" rtlCol="0" anchor="ctr"/>
          <a:lstStyle/>
          <a:p>
            <a:pPr indent="0" marL="0">
              <a:buNone/>
            </a:pPr>
            <a:r>
              <a:rPr lang="en-US" sz="4200" dirty="0">
                <a:solidFill>
                  <a:srgbClr val="1A1C20"/>
                </a:solidFill>
                <a:latin typeface="Instrument Serif" pitchFamily="34" charset="0"/>
                <a:ea typeface="Instrument Serif" pitchFamily="34" charset="-122"/>
                <a:cs typeface="Instrument Serif" pitchFamily="34" charset="-120"/>
              </a:rPr>
              <a:t>Hold the </a:t>
            </a:r>
            <a:pPr indent="0" marL="0">
              <a:buNone/>
            </a:pPr>
            <a:r>
              <a:rPr lang="en-US" sz="4200" i="1" dirty="0">
                <a:solidFill>
                  <a:srgbClr val="E3862E"/>
                </a:solidFill>
                <a:latin typeface="Instrument Serif" pitchFamily="34" charset="0"/>
                <a:ea typeface="Instrument Serif" pitchFamily="34" charset="-122"/>
                <a:cs typeface="Instrument Serif" pitchFamily="34" charset="-120"/>
              </a:rPr>
              <a:t>egg.</a:t>
            </a:r>
            <a:endParaRPr lang="en-US" sz="4200" dirty="0"/>
          </a:p>
        </p:txBody>
      </p:sp>
      <p:sp>
        <p:nvSpPr>
          <p:cNvPr id="14" name="Shape 12"/>
          <p:cNvSpPr/>
          <p:nvPr/>
        </p:nvSpPr>
        <p:spPr>
          <a:xfrm>
            <a:off x="548640" y="1810512"/>
            <a:ext cx="5943600" cy="3438144"/>
          </a:xfrm>
          <a:prstGeom prst="roundRect">
            <a:avLst>
              <a:gd name="adj" fmla="val 3723"/>
            </a:avLst>
          </a:prstGeom>
          <a:solidFill>
            <a:srgbClr val="FFFFFF"/>
          </a:solidFill>
          <a:ln w="12700">
            <a:solidFill>
              <a:srgbClr val="E3862E"/>
            </a:solidFill>
            <a:prstDash val="solid"/>
          </a:ln>
          <a:effectLst>
            <a:outerShdw sx="100000" sy="100000" kx="0" ky="0" algn="bl" rotWithShape="0" blurRad="63500" dist="19050" dir="5400000">
              <a:srgbClr val="000000">
                <a:alpha val="8000"/>
              </a:srgbClr>
            </a:outerShdw>
          </a:effectLst>
        </p:spPr>
      </p:sp>
      <p:pic>
        <p:nvPicPr>
          <p:cNvPr id="15" name="Image 0" descr="/tmp/claude-0/deck/assets/egg_demo.gif">    </p:cNvPr>
          <p:cNvPicPr>
            <a:picLocks noChangeAspect="1"/>
          </p:cNvPicPr>
          <p:nvPr/>
        </p:nvPicPr>
        <p:blipFill>
          <a:blip r:embed="rId1"/>
          <a:stretch>
            <a:fillRect/>
          </a:stretch>
        </p:blipFill>
        <p:spPr>
          <a:xfrm>
            <a:off x="658368" y="1920240"/>
            <a:ext cx="5724144" cy="3218688"/>
          </a:xfrm>
          <a:prstGeom prst="rect">
            <a:avLst/>
          </a:prstGeom>
        </p:spPr>
      </p:pic>
      <p:sp>
        <p:nvSpPr>
          <p:cNvPr id="16" name="Shape 13"/>
          <p:cNvSpPr/>
          <p:nvPr/>
        </p:nvSpPr>
        <p:spPr>
          <a:xfrm>
            <a:off x="795528" y="4681728"/>
            <a:ext cx="2331720" cy="310896"/>
          </a:xfrm>
          <a:prstGeom prst="roundRect">
            <a:avLst>
              <a:gd name="adj" fmla="val 17647"/>
            </a:avLst>
          </a:prstGeom>
          <a:solidFill>
            <a:srgbClr val="1A1C20">
              <a:alpha val="80000"/>
            </a:srgbClr>
          </a:solidFill>
          <a:ln w="12700">
            <a:solidFill>
              <a:srgbClr val="1A1C20"/>
            </a:solidFill>
            <a:prstDash val="solid"/>
          </a:ln>
        </p:spPr>
      </p:sp>
      <p:sp>
        <p:nvSpPr>
          <p:cNvPr id="17" name="Text 14"/>
          <p:cNvSpPr txBox="1"/>
          <p:nvPr/>
        </p:nvSpPr>
        <p:spPr>
          <a:xfrm>
            <a:off x="795528" y="4681728"/>
            <a:ext cx="2331720" cy="31089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JetBrains Mono" pitchFamily="34" charset="0"/>
                <a:ea typeface="JetBrains Mono" pitchFamily="34" charset="-122"/>
                <a:cs typeface="JetBrains Mono" pitchFamily="34" charset="-120"/>
              </a:rPr>
              <a:t>REAL ROBOT  ·  EGG TASK</a:t>
            </a:r>
            <a:endParaRPr lang="en-US" sz="950" dirty="0"/>
          </a:p>
        </p:txBody>
      </p:sp>
      <p:sp>
        <p:nvSpPr>
          <p:cNvPr id="18" name="Shape 15"/>
          <p:cNvSpPr/>
          <p:nvPr/>
        </p:nvSpPr>
        <p:spPr>
          <a:xfrm>
            <a:off x="6720840" y="1810512"/>
            <a:ext cx="4919472" cy="1005840"/>
          </a:xfrm>
          <a:prstGeom prst="roundRect">
            <a:avLst>
              <a:gd name="adj" fmla="val 12727"/>
            </a:avLst>
          </a:prstGeom>
          <a:solidFill>
            <a:srgbClr val="FFFFFF"/>
          </a:solidFill>
          <a:ln w="12700">
            <a:solidFill>
              <a:srgbClr val="E2DFD8"/>
            </a:solidFill>
            <a:prstDash val="solid"/>
          </a:ln>
          <a:effectLst>
            <a:outerShdw sx="100000" sy="100000" kx="0" ky="0" algn="bl" rotWithShape="0" blurRad="63500" dist="19050" dir="5400000">
              <a:srgbClr val="000000">
                <a:alpha val="8000"/>
              </a:srgbClr>
            </a:outerShdw>
          </a:effectLst>
        </p:spPr>
      </p:sp>
      <p:pic>
        <p:nvPicPr>
          <p:cNvPr id="19" name="Image 1" descr="/tmp/claude-0/deck/assets/thumb_jar.png">    </p:cNvPr>
          <p:cNvPicPr>
            <a:picLocks noChangeAspect="1"/>
          </p:cNvPicPr>
          <p:nvPr/>
        </p:nvPicPr>
        <p:blipFill>
          <a:blip r:embed="rId2"/>
          <a:stretch>
            <a:fillRect/>
          </a:stretch>
        </p:blipFill>
        <p:spPr>
          <a:xfrm>
            <a:off x="6830568" y="1920240"/>
            <a:ext cx="786384" cy="786384"/>
          </a:xfrm>
          <a:prstGeom prst="rect">
            <a:avLst/>
          </a:prstGeom>
        </p:spPr>
      </p:pic>
      <p:sp>
        <p:nvSpPr>
          <p:cNvPr id="20" name="Text 16"/>
          <p:cNvSpPr txBox="1"/>
          <p:nvPr/>
        </p:nvSpPr>
        <p:spPr>
          <a:xfrm>
            <a:off x="7772400" y="1929384"/>
            <a:ext cx="1828800" cy="457200"/>
          </a:xfrm>
          <a:prstGeom prst="rect">
            <a:avLst/>
          </a:prstGeom>
          <a:noFill/>
          <a:ln/>
        </p:spPr>
        <p:txBody>
          <a:bodyPr wrap="square" lIns="0" tIns="0" rIns="0" bIns="0" rtlCol="0" anchor="ctr"/>
          <a:lstStyle/>
          <a:p>
            <a:pPr indent="0" marL="0">
              <a:buNone/>
            </a:pPr>
            <a:r>
              <a:rPr lang="en-US" sz="2600" dirty="0">
                <a:solidFill>
                  <a:srgbClr val="1A1C20"/>
                </a:solidFill>
                <a:latin typeface="Instrument Serif" pitchFamily="34" charset="0"/>
                <a:ea typeface="Instrument Serif" pitchFamily="34" charset="-122"/>
                <a:cs typeface="Instrument Serif" pitchFamily="34" charset="-120"/>
              </a:rPr>
              <a:t>Jar</a:t>
            </a:r>
            <a:endParaRPr lang="en-US" sz="2600" dirty="0"/>
          </a:p>
        </p:txBody>
      </p:sp>
      <p:sp>
        <p:nvSpPr>
          <p:cNvPr id="21" name="Text 17"/>
          <p:cNvSpPr txBox="1"/>
          <p:nvPr/>
        </p:nvSpPr>
        <p:spPr>
          <a:xfrm>
            <a:off x="7772400" y="2377440"/>
            <a:ext cx="2240280" cy="310896"/>
          </a:xfrm>
          <a:prstGeom prst="rect">
            <a:avLst/>
          </a:prstGeom>
          <a:noFill/>
          <a:ln/>
        </p:spPr>
        <p:txBody>
          <a:bodyPr wrap="square" lIns="0" tIns="0" rIns="0" bIns="0" rtlCol="0" anchor="ctr"/>
          <a:lstStyle/>
          <a:p>
            <a:pPr indent="0" marL="0">
              <a:buNone/>
            </a:pPr>
            <a:r>
              <a:rPr lang="en-US" sz="1100" dirty="0">
                <a:solidFill>
                  <a:srgbClr val="5B6068"/>
                </a:solidFill>
                <a:latin typeface="IBM Plex Sans" pitchFamily="34" charset="0"/>
                <a:ea typeface="IBM Plex Sans" pitchFamily="34" charset="-122"/>
                <a:cs typeface="IBM Plex Sans" pitchFamily="34" charset="-120"/>
              </a:rPr>
              <a:t>Deformable, keep its shape</a:t>
            </a:r>
            <a:endParaRPr lang="en-US" sz="1100" dirty="0"/>
          </a:p>
        </p:txBody>
      </p:sp>
      <p:sp>
        <p:nvSpPr>
          <p:cNvPr id="22" name="Text 18"/>
          <p:cNvSpPr txBox="1"/>
          <p:nvPr/>
        </p:nvSpPr>
        <p:spPr>
          <a:xfrm>
            <a:off x="9875520" y="2084832"/>
            <a:ext cx="566928" cy="457200"/>
          </a:xfrm>
          <a:prstGeom prst="rect">
            <a:avLst/>
          </a:prstGeom>
          <a:noFill/>
          <a:ln/>
        </p:spPr>
        <p:txBody>
          <a:bodyPr wrap="square" lIns="0" tIns="0" rIns="0" bIns="0" rtlCol="0" anchor="ctr"/>
          <a:lstStyle/>
          <a:p>
            <a:pPr algn="r" indent="0" marL="0">
              <a:buNone/>
            </a:pPr>
            <a:r>
              <a:rPr lang="en-US" sz="1500" dirty="0">
                <a:solidFill>
                  <a:srgbClr val="8A8E95"/>
                </a:solidFill>
                <a:latin typeface="IBM Plex Sans" pitchFamily="34" charset="0"/>
                <a:ea typeface="IBM Plex Sans" pitchFamily="34" charset="-122"/>
                <a:cs typeface="IBM Plex Sans" pitchFamily="34" charset="-120"/>
              </a:rPr>
              <a:t>50%</a:t>
            </a:r>
            <a:endParaRPr lang="en-US" sz="1500" dirty="0"/>
          </a:p>
        </p:txBody>
      </p:sp>
      <p:pic>
        <p:nvPicPr>
          <p:cNvPr id="23" name="Image 2" descr="preencoded.png">    </p:cNvPr>
          <p:cNvPicPr>
            <a:picLocks noChangeAspect="1"/>
          </p:cNvPicPr>
          <p:nvPr/>
        </p:nvPicPr>
        <p:blipFill>
          <a:blip r:embed="rId3"/>
          <a:stretch>
            <a:fillRect/>
          </a:stretch>
        </p:blipFill>
        <p:spPr>
          <a:xfrm>
            <a:off x="10469880" y="2203704"/>
            <a:ext cx="219456" cy="219456"/>
          </a:xfrm>
          <a:prstGeom prst="rect">
            <a:avLst/>
          </a:prstGeom>
        </p:spPr>
      </p:pic>
      <p:sp>
        <p:nvSpPr>
          <p:cNvPr id="24" name="Text 19"/>
          <p:cNvSpPr txBox="1"/>
          <p:nvPr/>
        </p:nvSpPr>
        <p:spPr>
          <a:xfrm>
            <a:off x="10725912" y="1975104"/>
            <a:ext cx="868680" cy="676656"/>
          </a:xfrm>
          <a:prstGeom prst="rect">
            <a:avLst/>
          </a:prstGeom>
          <a:noFill/>
          <a:ln/>
        </p:spPr>
        <p:txBody>
          <a:bodyPr wrap="square" lIns="0" tIns="0" rIns="0" bIns="0" rtlCol="0" anchor="ctr"/>
          <a:lstStyle/>
          <a:p>
            <a:pPr algn="l" indent="0" marL="0">
              <a:buNone/>
            </a:pPr>
            <a:r>
              <a:rPr lang="en-US" sz="3600" dirty="0">
                <a:solidFill>
                  <a:srgbClr val="1A1C20"/>
                </a:solidFill>
                <a:latin typeface="Instrument Serif" pitchFamily="34" charset="0"/>
                <a:ea typeface="Instrument Serif" pitchFamily="34" charset="-122"/>
                <a:cs typeface="Instrument Serif" pitchFamily="34" charset="-120"/>
              </a:rPr>
              <a:t>75%</a:t>
            </a:r>
            <a:endParaRPr lang="en-US" sz="3600" dirty="0"/>
          </a:p>
        </p:txBody>
      </p:sp>
      <p:sp>
        <p:nvSpPr>
          <p:cNvPr id="25" name="Shape 20"/>
          <p:cNvSpPr/>
          <p:nvPr/>
        </p:nvSpPr>
        <p:spPr>
          <a:xfrm>
            <a:off x="6720840" y="3026664"/>
            <a:ext cx="4919472" cy="1005840"/>
          </a:xfrm>
          <a:prstGeom prst="roundRect">
            <a:avLst>
              <a:gd name="adj" fmla="val 12727"/>
            </a:avLst>
          </a:prstGeom>
          <a:solidFill>
            <a:srgbClr val="FFFFFF"/>
          </a:solidFill>
          <a:ln w="12700">
            <a:solidFill>
              <a:srgbClr val="E2DFD8"/>
            </a:solidFill>
            <a:prstDash val="solid"/>
          </a:ln>
          <a:effectLst>
            <a:outerShdw sx="100000" sy="100000" kx="0" ky="0" algn="bl" rotWithShape="0" blurRad="63500" dist="19050" dir="5400000">
              <a:srgbClr val="000000">
                <a:alpha val="8000"/>
              </a:srgbClr>
            </a:outerShdw>
          </a:effectLst>
        </p:spPr>
      </p:sp>
      <p:pic>
        <p:nvPicPr>
          <p:cNvPr id="26" name="Image 3" descr="/tmp/claude-0/deck/assets/thumb_waffles.png">    </p:cNvPr>
          <p:cNvPicPr>
            <a:picLocks noChangeAspect="1"/>
          </p:cNvPicPr>
          <p:nvPr/>
        </p:nvPicPr>
        <p:blipFill>
          <a:blip r:embed="rId4"/>
          <a:stretch>
            <a:fillRect/>
          </a:stretch>
        </p:blipFill>
        <p:spPr>
          <a:xfrm>
            <a:off x="6830568" y="3136392"/>
            <a:ext cx="786384" cy="786384"/>
          </a:xfrm>
          <a:prstGeom prst="rect">
            <a:avLst/>
          </a:prstGeom>
        </p:spPr>
      </p:pic>
      <p:sp>
        <p:nvSpPr>
          <p:cNvPr id="27" name="Text 21"/>
          <p:cNvSpPr txBox="1"/>
          <p:nvPr/>
        </p:nvSpPr>
        <p:spPr>
          <a:xfrm>
            <a:off x="7772400" y="3145536"/>
            <a:ext cx="1828800" cy="457200"/>
          </a:xfrm>
          <a:prstGeom prst="rect">
            <a:avLst/>
          </a:prstGeom>
          <a:noFill/>
          <a:ln/>
        </p:spPr>
        <p:txBody>
          <a:bodyPr wrap="square" lIns="0" tIns="0" rIns="0" bIns="0" rtlCol="0" anchor="ctr"/>
          <a:lstStyle/>
          <a:p>
            <a:pPr indent="0" marL="0">
              <a:buNone/>
            </a:pPr>
            <a:r>
              <a:rPr lang="en-US" sz="2600" dirty="0">
                <a:solidFill>
                  <a:srgbClr val="1A1C20"/>
                </a:solidFill>
                <a:latin typeface="Instrument Serif" pitchFamily="34" charset="0"/>
                <a:ea typeface="Instrument Serif" pitchFamily="34" charset="-122"/>
                <a:cs typeface="Instrument Serif" pitchFamily="34" charset="-120"/>
              </a:rPr>
              <a:t>Waffles</a:t>
            </a:r>
            <a:endParaRPr lang="en-US" sz="2600" dirty="0"/>
          </a:p>
        </p:txBody>
      </p:sp>
      <p:sp>
        <p:nvSpPr>
          <p:cNvPr id="28" name="Text 22"/>
          <p:cNvSpPr txBox="1"/>
          <p:nvPr/>
        </p:nvSpPr>
        <p:spPr>
          <a:xfrm>
            <a:off x="7772400" y="3593592"/>
            <a:ext cx="2240280" cy="310896"/>
          </a:xfrm>
          <a:prstGeom prst="rect">
            <a:avLst/>
          </a:prstGeom>
          <a:noFill/>
          <a:ln/>
        </p:spPr>
        <p:txBody>
          <a:bodyPr wrap="square" lIns="0" tIns="0" rIns="0" bIns="0" rtlCol="0" anchor="ctr"/>
          <a:lstStyle/>
          <a:p>
            <a:pPr indent="0" marL="0">
              <a:buNone/>
            </a:pPr>
            <a:r>
              <a:rPr lang="en-US" sz="1100" dirty="0">
                <a:solidFill>
                  <a:srgbClr val="5B6068"/>
                </a:solidFill>
                <a:latin typeface="IBM Plex Sans" pitchFamily="34" charset="0"/>
                <a:ea typeface="IBM Plex Sans" pitchFamily="34" charset="-122"/>
                <a:cs typeface="IBM Plex Sans" pitchFamily="34" charset="-120"/>
              </a:rPr>
              <a:t>Fragile, no cracks or crumbs</a:t>
            </a:r>
            <a:endParaRPr lang="en-US" sz="1100" dirty="0"/>
          </a:p>
        </p:txBody>
      </p:sp>
      <p:sp>
        <p:nvSpPr>
          <p:cNvPr id="29" name="Text 23"/>
          <p:cNvSpPr txBox="1"/>
          <p:nvPr/>
        </p:nvSpPr>
        <p:spPr>
          <a:xfrm>
            <a:off x="9875520" y="3300984"/>
            <a:ext cx="566928" cy="457200"/>
          </a:xfrm>
          <a:prstGeom prst="rect">
            <a:avLst/>
          </a:prstGeom>
          <a:noFill/>
          <a:ln/>
        </p:spPr>
        <p:txBody>
          <a:bodyPr wrap="square" lIns="0" tIns="0" rIns="0" bIns="0" rtlCol="0" anchor="ctr"/>
          <a:lstStyle/>
          <a:p>
            <a:pPr algn="r" indent="0" marL="0">
              <a:buNone/>
            </a:pPr>
            <a:r>
              <a:rPr lang="en-US" sz="1500" dirty="0">
                <a:solidFill>
                  <a:srgbClr val="8A8E95"/>
                </a:solidFill>
                <a:latin typeface="IBM Plex Sans" pitchFamily="34" charset="0"/>
                <a:ea typeface="IBM Plex Sans" pitchFamily="34" charset="-122"/>
                <a:cs typeface="IBM Plex Sans" pitchFamily="34" charset="-120"/>
              </a:rPr>
              <a:t>70%</a:t>
            </a:r>
            <a:endParaRPr lang="en-US" sz="1500" dirty="0"/>
          </a:p>
        </p:txBody>
      </p:sp>
      <p:pic>
        <p:nvPicPr>
          <p:cNvPr id="30" name="Image 4" descr="preencoded.png">    </p:cNvPr>
          <p:cNvPicPr>
            <a:picLocks noChangeAspect="1"/>
          </p:cNvPicPr>
          <p:nvPr/>
        </p:nvPicPr>
        <p:blipFill>
          <a:blip r:embed="rId5"/>
          <a:stretch>
            <a:fillRect/>
          </a:stretch>
        </p:blipFill>
        <p:spPr>
          <a:xfrm>
            <a:off x="10469880" y="3419856"/>
            <a:ext cx="219456" cy="219456"/>
          </a:xfrm>
          <a:prstGeom prst="rect">
            <a:avLst/>
          </a:prstGeom>
        </p:spPr>
      </p:pic>
      <p:sp>
        <p:nvSpPr>
          <p:cNvPr id="31" name="Text 24"/>
          <p:cNvSpPr txBox="1"/>
          <p:nvPr/>
        </p:nvSpPr>
        <p:spPr>
          <a:xfrm>
            <a:off x="10725912" y="3191256"/>
            <a:ext cx="868680" cy="676656"/>
          </a:xfrm>
          <a:prstGeom prst="rect">
            <a:avLst/>
          </a:prstGeom>
          <a:noFill/>
          <a:ln/>
        </p:spPr>
        <p:txBody>
          <a:bodyPr wrap="square" lIns="0" tIns="0" rIns="0" bIns="0" rtlCol="0" anchor="ctr"/>
          <a:lstStyle/>
          <a:p>
            <a:pPr algn="l" indent="0" marL="0">
              <a:buNone/>
            </a:pPr>
            <a:r>
              <a:rPr lang="en-US" sz="3600" dirty="0">
                <a:solidFill>
                  <a:srgbClr val="1A1C20"/>
                </a:solidFill>
                <a:latin typeface="Instrument Serif" pitchFamily="34" charset="0"/>
                <a:ea typeface="Instrument Serif" pitchFamily="34" charset="-122"/>
                <a:cs typeface="Instrument Serif" pitchFamily="34" charset="-120"/>
              </a:rPr>
              <a:t>90%</a:t>
            </a:r>
            <a:endParaRPr lang="en-US" sz="3600" dirty="0"/>
          </a:p>
        </p:txBody>
      </p:sp>
      <p:sp>
        <p:nvSpPr>
          <p:cNvPr id="32" name="Shape 25"/>
          <p:cNvSpPr/>
          <p:nvPr/>
        </p:nvSpPr>
        <p:spPr>
          <a:xfrm>
            <a:off x="6720840" y="4242816"/>
            <a:ext cx="4919472" cy="1005840"/>
          </a:xfrm>
          <a:prstGeom prst="roundRect">
            <a:avLst>
              <a:gd name="adj" fmla="val 12727"/>
            </a:avLst>
          </a:prstGeom>
          <a:solidFill>
            <a:srgbClr val="FDF1E3"/>
          </a:solidFill>
          <a:ln w="19050">
            <a:solidFill>
              <a:srgbClr val="E3862E"/>
            </a:solidFill>
            <a:prstDash val="solid"/>
          </a:ln>
          <a:effectLst>
            <a:outerShdw sx="100000" sy="100000" kx="0" ky="0" algn="bl" rotWithShape="0" blurRad="63500" dist="19050" dir="5400000">
              <a:srgbClr val="000000">
                <a:alpha val="8000"/>
              </a:srgbClr>
            </a:outerShdw>
          </a:effectLst>
        </p:spPr>
      </p:sp>
      <p:pic>
        <p:nvPicPr>
          <p:cNvPr id="33" name="Image 5" descr="/tmp/claude-0/deck/assets/thumb_egg.png">    </p:cNvPr>
          <p:cNvPicPr>
            <a:picLocks noChangeAspect="1"/>
          </p:cNvPicPr>
          <p:nvPr/>
        </p:nvPicPr>
        <p:blipFill>
          <a:blip r:embed="rId6"/>
          <a:stretch>
            <a:fillRect/>
          </a:stretch>
        </p:blipFill>
        <p:spPr>
          <a:xfrm>
            <a:off x="6830568" y="4352544"/>
            <a:ext cx="786384" cy="786384"/>
          </a:xfrm>
          <a:prstGeom prst="rect">
            <a:avLst/>
          </a:prstGeom>
        </p:spPr>
      </p:pic>
      <p:sp>
        <p:nvSpPr>
          <p:cNvPr id="34" name="Text 26"/>
          <p:cNvSpPr txBox="1"/>
          <p:nvPr/>
        </p:nvSpPr>
        <p:spPr>
          <a:xfrm>
            <a:off x="7772400" y="4361688"/>
            <a:ext cx="1828800" cy="457200"/>
          </a:xfrm>
          <a:prstGeom prst="rect">
            <a:avLst/>
          </a:prstGeom>
          <a:noFill/>
          <a:ln/>
        </p:spPr>
        <p:txBody>
          <a:bodyPr wrap="square" lIns="0" tIns="0" rIns="0" bIns="0" rtlCol="0" anchor="ctr"/>
          <a:lstStyle/>
          <a:p>
            <a:pPr indent="0" marL="0">
              <a:buNone/>
            </a:pPr>
            <a:r>
              <a:rPr lang="en-US" sz="2600" dirty="0">
                <a:solidFill>
                  <a:srgbClr val="1A1C20"/>
                </a:solidFill>
                <a:latin typeface="Instrument Serif" pitchFamily="34" charset="0"/>
                <a:ea typeface="Instrument Serif" pitchFamily="34" charset="-122"/>
                <a:cs typeface="Instrument Serif" pitchFamily="34" charset="-120"/>
              </a:rPr>
              <a:t>Egg</a:t>
            </a:r>
            <a:endParaRPr lang="en-US" sz="2600" dirty="0"/>
          </a:p>
        </p:txBody>
      </p:sp>
      <p:sp>
        <p:nvSpPr>
          <p:cNvPr id="35" name="Text 27"/>
          <p:cNvSpPr txBox="1"/>
          <p:nvPr/>
        </p:nvSpPr>
        <p:spPr>
          <a:xfrm>
            <a:off x="7772400" y="4809744"/>
            <a:ext cx="2240280" cy="310896"/>
          </a:xfrm>
          <a:prstGeom prst="rect">
            <a:avLst/>
          </a:prstGeom>
          <a:noFill/>
          <a:ln/>
        </p:spPr>
        <p:txBody>
          <a:bodyPr wrap="square" lIns="0" tIns="0" rIns="0" bIns="0" rtlCol="0" anchor="ctr"/>
          <a:lstStyle/>
          <a:p>
            <a:pPr indent="0" marL="0">
              <a:buNone/>
            </a:pPr>
            <a:r>
              <a:rPr lang="en-US" sz="1100" dirty="0">
                <a:solidFill>
                  <a:srgbClr val="5B6068"/>
                </a:solidFill>
                <a:latin typeface="IBM Plex Sans" pitchFamily="34" charset="0"/>
                <a:ea typeface="IBM Plex Sans" pitchFamily="34" charset="-122"/>
                <a:cs typeface="IBM Plex Sans" pitchFamily="34" charset="-120"/>
              </a:rPr>
              <a:t>Out of the carton, onto the tray</a:t>
            </a:r>
            <a:endParaRPr lang="en-US" sz="1100" dirty="0"/>
          </a:p>
        </p:txBody>
      </p:sp>
      <p:sp>
        <p:nvSpPr>
          <p:cNvPr id="36" name="Text 28"/>
          <p:cNvSpPr txBox="1"/>
          <p:nvPr/>
        </p:nvSpPr>
        <p:spPr>
          <a:xfrm>
            <a:off x="9875520" y="4517136"/>
            <a:ext cx="566928" cy="457200"/>
          </a:xfrm>
          <a:prstGeom prst="rect">
            <a:avLst/>
          </a:prstGeom>
          <a:noFill/>
          <a:ln/>
        </p:spPr>
        <p:txBody>
          <a:bodyPr wrap="square" lIns="0" tIns="0" rIns="0" bIns="0" rtlCol="0" anchor="ctr"/>
          <a:lstStyle/>
          <a:p>
            <a:pPr algn="r" indent="0" marL="0">
              <a:buNone/>
            </a:pPr>
            <a:r>
              <a:rPr lang="en-US" sz="1500" dirty="0">
                <a:solidFill>
                  <a:srgbClr val="8A8E95"/>
                </a:solidFill>
                <a:latin typeface="IBM Plex Sans" pitchFamily="34" charset="0"/>
                <a:ea typeface="IBM Plex Sans" pitchFamily="34" charset="-122"/>
                <a:cs typeface="IBM Plex Sans" pitchFamily="34" charset="-120"/>
              </a:rPr>
              <a:t>50%</a:t>
            </a:r>
            <a:endParaRPr lang="en-US" sz="1500" dirty="0"/>
          </a:p>
        </p:txBody>
      </p:sp>
      <p:pic>
        <p:nvPicPr>
          <p:cNvPr id="37" name="Image 6" descr="preencoded.png">    </p:cNvPr>
          <p:cNvPicPr>
            <a:picLocks noChangeAspect="1"/>
          </p:cNvPicPr>
          <p:nvPr/>
        </p:nvPicPr>
        <p:blipFill>
          <a:blip r:embed="rId7"/>
          <a:stretch>
            <a:fillRect/>
          </a:stretch>
        </p:blipFill>
        <p:spPr>
          <a:xfrm>
            <a:off x="10469880" y="4636008"/>
            <a:ext cx="219456" cy="219456"/>
          </a:xfrm>
          <a:prstGeom prst="rect">
            <a:avLst/>
          </a:prstGeom>
        </p:spPr>
      </p:pic>
      <p:sp>
        <p:nvSpPr>
          <p:cNvPr id="38" name="Text 29"/>
          <p:cNvSpPr txBox="1"/>
          <p:nvPr/>
        </p:nvSpPr>
        <p:spPr>
          <a:xfrm>
            <a:off x="10725912" y="4407408"/>
            <a:ext cx="868680" cy="676656"/>
          </a:xfrm>
          <a:prstGeom prst="rect">
            <a:avLst/>
          </a:prstGeom>
          <a:noFill/>
          <a:ln/>
        </p:spPr>
        <p:txBody>
          <a:bodyPr wrap="square" lIns="0" tIns="0" rIns="0" bIns="0" rtlCol="0" anchor="ctr"/>
          <a:lstStyle/>
          <a:p>
            <a:pPr algn="l" indent="0" marL="0">
              <a:buNone/>
            </a:pPr>
            <a:r>
              <a:rPr lang="en-US" sz="3600" dirty="0">
                <a:solidFill>
                  <a:srgbClr val="E3862E"/>
                </a:solidFill>
                <a:latin typeface="Instrument Serif" pitchFamily="34" charset="0"/>
                <a:ea typeface="Instrument Serif" pitchFamily="34" charset="-122"/>
                <a:cs typeface="Instrument Serif" pitchFamily="34" charset="-120"/>
              </a:rPr>
              <a:t>95%</a:t>
            </a:r>
            <a:endParaRPr lang="en-US" sz="3600" dirty="0"/>
          </a:p>
        </p:txBody>
      </p:sp>
      <p:sp>
        <p:nvSpPr>
          <p:cNvPr id="39" name="Shape 30"/>
          <p:cNvSpPr/>
          <p:nvPr/>
        </p:nvSpPr>
        <p:spPr>
          <a:xfrm>
            <a:off x="548640" y="5468112"/>
            <a:ext cx="3575304" cy="731520"/>
          </a:xfrm>
          <a:prstGeom prst="roundRect">
            <a:avLst>
              <a:gd name="adj" fmla="val 12500"/>
            </a:avLst>
          </a:prstGeom>
          <a:solidFill>
            <a:srgbClr val="E3862E"/>
          </a:solidFill>
          <a:ln w="12700">
            <a:solidFill>
              <a:srgbClr val="E3862E"/>
            </a:solidFill>
            <a:prstDash val="solid"/>
          </a:ln>
        </p:spPr>
      </p:sp>
      <p:sp>
        <p:nvSpPr>
          <p:cNvPr id="40" name="Text 31"/>
          <p:cNvSpPr txBox="1"/>
          <p:nvPr/>
        </p:nvSpPr>
        <p:spPr>
          <a:xfrm>
            <a:off x="777240" y="5468112"/>
            <a:ext cx="1600200" cy="731520"/>
          </a:xfrm>
          <a:prstGeom prst="rect">
            <a:avLst/>
          </a:prstGeom>
          <a:noFill/>
          <a:ln/>
        </p:spPr>
        <p:txBody>
          <a:bodyPr wrap="square" lIns="0" tIns="0" rIns="0" bIns="0" rtlCol="0" anchor="ctr"/>
          <a:lstStyle/>
          <a:p>
            <a:pPr indent="0" marL="0">
              <a:buNone/>
            </a:pPr>
            <a:r>
              <a:rPr lang="en-US" sz="3200" dirty="0">
                <a:solidFill>
                  <a:srgbClr val="FFFFFF"/>
                </a:solidFill>
                <a:latin typeface="Instrument Serif" pitchFamily="34" charset="0"/>
                <a:ea typeface="Instrument Serif" pitchFamily="34" charset="-122"/>
                <a:cs typeface="Instrument Serif" pitchFamily="34" charset="-120"/>
              </a:rPr>
              <a:t>86.7%</a:t>
            </a:r>
            <a:endParaRPr lang="en-US" sz="3200" dirty="0"/>
          </a:p>
        </p:txBody>
      </p:sp>
      <p:sp>
        <p:nvSpPr>
          <p:cNvPr id="41" name="Text 32"/>
          <p:cNvSpPr txBox="1"/>
          <p:nvPr/>
        </p:nvSpPr>
        <p:spPr>
          <a:xfrm>
            <a:off x="2377440" y="5468112"/>
            <a:ext cx="1609344" cy="731520"/>
          </a:xfrm>
          <a:prstGeom prst="rect">
            <a:avLst/>
          </a:prstGeom>
          <a:noFill/>
          <a:ln/>
        </p:spPr>
        <p:txBody>
          <a:bodyPr wrap="square" lIns="0" tIns="0" rIns="0" bIns="0" rtlCol="0" anchor="ctr"/>
          <a:lstStyle/>
          <a:p>
            <a:pPr indent="0" marL="0">
              <a:buNone/>
            </a:pPr>
            <a:r>
              <a:rPr lang="en-US" sz="1050" dirty="0">
                <a:solidFill>
                  <a:srgbClr val="FCF0E6"/>
                </a:solidFill>
                <a:latin typeface="JetBrains Mono" pitchFamily="34" charset="0"/>
                <a:ea typeface="JetBrains Mono" pitchFamily="34" charset="-122"/>
                <a:cs typeface="JetBrains Mono" pitchFamily="34" charset="-120"/>
              </a:rPr>
              <a:t>HapticVLA, mean success</a:t>
            </a:r>
            <a:endParaRPr lang="en-US" sz="1050" dirty="0"/>
          </a:p>
        </p:txBody>
      </p:sp>
      <p:sp>
        <p:nvSpPr>
          <p:cNvPr id="42" name="Shape 33"/>
          <p:cNvSpPr/>
          <p:nvPr/>
        </p:nvSpPr>
        <p:spPr>
          <a:xfrm>
            <a:off x="4306824" y="5468112"/>
            <a:ext cx="3575304" cy="731520"/>
          </a:xfrm>
          <a:prstGeom prst="roundRect">
            <a:avLst>
              <a:gd name="adj" fmla="val 12500"/>
            </a:avLst>
          </a:prstGeom>
          <a:solidFill>
            <a:srgbClr val="FDF1E3"/>
          </a:solidFill>
          <a:ln w="12700">
            <a:solidFill>
              <a:srgbClr val="FDF1E3"/>
            </a:solidFill>
            <a:prstDash val="solid"/>
          </a:ln>
        </p:spPr>
      </p:sp>
      <p:sp>
        <p:nvSpPr>
          <p:cNvPr id="43" name="Text 34"/>
          <p:cNvSpPr txBox="1"/>
          <p:nvPr/>
        </p:nvSpPr>
        <p:spPr>
          <a:xfrm>
            <a:off x="4535424" y="5468112"/>
            <a:ext cx="1600200" cy="731520"/>
          </a:xfrm>
          <a:prstGeom prst="rect">
            <a:avLst/>
          </a:prstGeom>
          <a:noFill/>
          <a:ln/>
        </p:spPr>
        <p:txBody>
          <a:bodyPr wrap="square" lIns="0" tIns="0" rIns="0" bIns="0" rtlCol="0" anchor="ctr"/>
          <a:lstStyle/>
          <a:p>
            <a:pPr indent="0" marL="0">
              <a:buNone/>
            </a:pPr>
            <a:r>
              <a:rPr lang="en-US" sz="3200" dirty="0">
                <a:solidFill>
                  <a:srgbClr val="1A1C20"/>
                </a:solidFill>
                <a:latin typeface="Instrument Serif" pitchFamily="34" charset="0"/>
                <a:ea typeface="Instrument Serif" pitchFamily="34" charset="-122"/>
                <a:cs typeface="Instrument Serif" pitchFamily="34" charset="-120"/>
              </a:rPr>
              <a:t>+30 pts</a:t>
            </a:r>
            <a:endParaRPr lang="en-US" sz="3200" dirty="0"/>
          </a:p>
        </p:txBody>
      </p:sp>
      <p:sp>
        <p:nvSpPr>
          <p:cNvPr id="44" name="Text 35"/>
          <p:cNvSpPr txBox="1"/>
          <p:nvPr/>
        </p:nvSpPr>
        <p:spPr>
          <a:xfrm>
            <a:off x="6135624" y="5468112"/>
            <a:ext cx="1609344" cy="731520"/>
          </a:xfrm>
          <a:prstGeom prst="rect">
            <a:avLst/>
          </a:prstGeom>
          <a:noFill/>
          <a:ln/>
        </p:spPr>
        <p:txBody>
          <a:bodyPr wrap="square" lIns="0" tIns="0" rIns="0" bIns="0" rtlCol="0" anchor="ctr"/>
          <a:lstStyle/>
          <a:p>
            <a:pPr indent="0" marL="0">
              <a:buNone/>
            </a:pPr>
            <a:r>
              <a:rPr lang="en-US" sz="1050" dirty="0">
                <a:solidFill>
                  <a:srgbClr val="5B6068"/>
                </a:solidFill>
                <a:latin typeface="JetBrains Mono" pitchFamily="34" charset="0"/>
                <a:ea typeface="JetBrains Mono" pitchFamily="34" charset="-122"/>
                <a:cs typeface="JetBrains Mono" pitchFamily="34" charset="-120"/>
              </a:rPr>
              <a:t>vs. the base model</a:t>
            </a:r>
            <a:endParaRPr lang="en-US" sz="1050" dirty="0"/>
          </a:p>
        </p:txBody>
      </p:sp>
      <p:sp>
        <p:nvSpPr>
          <p:cNvPr id="45" name="Shape 36"/>
          <p:cNvSpPr/>
          <p:nvPr/>
        </p:nvSpPr>
        <p:spPr>
          <a:xfrm>
            <a:off x="8065008" y="5468112"/>
            <a:ext cx="3575304" cy="731520"/>
          </a:xfrm>
          <a:prstGeom prst="roundRect">
            <a:avLst>
              <a:gd name="adj" fmla="val 12500"/>
            </a:avLst>
          </a:prstGeom>
          <a:solidFill>
            <a:srgbClr val="FDF1E3"/>
          </a:solidFill>
          <a:ln w="12700">
            <a:solidFill>
              <a:srgbClr val="FDF1E3"/>
            </a:solidFill>
            <a:prstDash val="solid"/>
          </a:ln>
        </p:spPr>
      </p:sp>
      <p:sp>
        <p:nvSpPr>
          <p:cNvPr id="46" name="Text 37"/>
          <p:cNvSpPr txBox="1"/>
          <p:nvPr/>
        </p:nvSpPr>
        <p:spPr>
          <a:xfrm>
            <a:off x="8293608" y="5468112"/>
            <a:ext cx="1600200" cy="731520"/>
          </a:xfrm>
          <a:prstGeom prst="rect">
            <a:avLst/>
          </a:prstGeom>
          <a:noFill/>
          <a:ln/>
        </p:spPr>
        <p:txBody>
          <a:bodyPr wrap="square" lIns="0" tIns="0" rIns="0" bIns="0" rtlCol="0" anchor="ctr"/>
          <a:lstStyle/>
          <a:p>
            <a:pPr indent="0" marL="0">
              <a:buNone/>
            </a:pPr>
            <a:r>
              <a:rPr lang="en-US" sz="3200" dirty="0">
                <a:solidFill>
                  <a:srgbClr val="1A1C20"/>
                </a:solidFill>
                <a:latin typeface="Instrument Serif" pitchFamily="34" charset="0"/>
                <a:ea typeface="Instrument Serif" pitchFamily="34" charset="-122"/>
                <a:cs typeface="Instrument Serif" pitchFamily="34" charset="-120"/>
              </a:rPr>
              <a:t>0</a:t>
            </a:r>
            <a:endParaRPr lang="en-US" sz="3200" dirty="0"/>
          </a:p>
        </p:txBody>
      </p:sp>
      <p:sp>
        <p:nvSpPr>
          <p:cNvPr id="47" name="Text 38"/>
          <p:cNvSpPr txBox="1"/>
          <p:nvPr/>
        </p:nvSpPr>
        <p:spPr>
          <a:xfrm>
            <a:off x="9893808" y="5468112"/>
            <a:ext cx="1609344" cy="731520"/>
          </a:xfrm>
          <a:prstGeom prst="rect">
            <a:avLst/>
          </a:prstGeom>
          <a:noFill/>
          <a:ln/>
        </p:spPr>
        <p:txBody>
          <a:bodyPr wrap="square" lIns="0" tIns="0" rIns="0" bIns="0" rtlCol="0" anchor="ctr"/>
          <a:lstStyle/>
          <a:p>
            <a:pPr indent="0" marL="0">
              <a:buNone/>
            </a:pPr>
            <a:r>
              <a:rPr lang="en-US" sz="1050" dirty="0">
                <a:solidFill>
                  <a:srgbClr val="5B6068"/>
                </a:solidFill>
                <a:latin typeface="JetBrains Mono" pitchFamily="34" charset="0"/>
                <a:ea typeface="JetBrains Mono" pitchFamily="34" charset="-122"/>
                <a:cs typeface="JetBrains Mono" pitchFamily="34" charset="-120"/>
              </a:rPr>
              <a:t>tactile sensors at deployment</a:t>
            </a:r>
            <a:endParaRPr lang="en-US" sz="1050" dirty="0"/>
          </a:p>
        </p:txBody>
      </p:sp>
      <p:sp>
        <p:nvSpPr>
          <p:cNvPr id="48" name="Text 39"/>
          <p:cNvSpPr txBox="1"/>
          <p:nvPr/>
        </p:nvSpPr>
        <p:spPr>
          <a:xfrm>
            <a:off x="548640" y="6419088"/>
            <a:ext cx="7772400" cy="201168"/>
          </a:xfrm>
          <a:prstGeom prst="rect">
            <a:avLst/>
          </a:prstGeom>
          <a:noFill/>
          <a:ln/>
        </p:spPr>
        <p:txBody>
          <a:bodyPr wrap="square" lIns="0" tIns="0" rIns="0" bIns="0" rtlCol="0" anchor="ctr"/>
          <a:lstStyle/>
          <a:p>
            <a:pPr indent="0" marL="0">
              <a:buNone/>
            </a:pPr>
            <a:r>
              <a:rPr lang="en-US" sz="900" dirty="0">
                <a:solidFill>
                  <a:srgbClr val="8A8E95"/>
                </a:solidFill>
                <a:latin typeface="JetBrains Mono" pitchFamily="34" charset="0"/>
                <a:ea typeface="JetBrains Mono" pitchFamily="34" charset="-122"/>
                <a:cs typeface="JetBrains Mono" pitchFamily="34" charset="-120"/>
              </a:rPr>
              <a:t>20 real-robot trials per task  ·  success = object intact and on target</a:t>
            </a:r>
            <a:endParaRPr lang="en-US" sz="900" dirty="0"/>
          </a:p>
        </p:txBody>
      </p:sp>
      <p:pic>
        <p:nvPicPr>
          <p:cNvPr id="49" name="Image 7" descr="/tmp/claude-0/deck/assets/skoltech_dark.png">    </p:cNvPr>
          <p:cNvPicPr>
            <a:picLocks noChangeAspect="1"/>
          </p:cNvPicPr>
          <p:nvPr/>
        </p:nvPicPr>
        <p:blipFill>
          <a:blip r:embed="rId8"/>
          <a:stretch>
            <a:fillRect/>
          </a:stretch>
        </p:blipFill>
        <p:spPr>
          <a:xfrm>
            <a:off x="10771632" y="6437376"/>
            <a:ext cx="868680" cy="1463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57200"/>
            <a:ext cx="5486400" cy="274320"/>
          </a:xfrm>
          <a:prstGeom prst="rect">
            <a:avLst/>
          </a:prstGeom>
          <a:noFill/>
          <a:ln/>
        </p:spPr>
        <p:txBody>
          <a:bodyPr wrap="square" lIns="0" tIns="0" rIns="0" bIns="0" rtlCol="0" anchor="ctr"/>
          <a:lstStyle/>
          <a:p>
            <a:pPr indent="0" marL="0">
              <a:buNone/>
            </a:pPr>
            <a:r>
              <a:rPr lang="en-US" sz="1200" b="1" spc="300" kern="0" dirty="0">
                <a:solidFill>
                  <a:srgbClr val="F6C453"/>
                </a:solidFill>
                <a:latin typeface="JetBrains Mono" pitchFamily="34" charset="0"/>
                <a:ea typeface="JetBrains Mono" pitchFamily="34" charset="-122"/>
                <a:cs typeface="JetBrains Mono" pitchFamily="34" charset="-120"/>
              </a:rPr>
              <a:t>THE TAKEAWAY</a:t>
            </a:r>
            <a:endParaRPr lang="en-US" sz="1200" dirty="0"/>
          </a:p>
        </p:txBody>
      </p:sp>
      <p:sp>
        <p:nvSpPr>
          <p:cNvPr id="3" name="Text 1"/>
          <p:cNvSpPr txBox="1"/>
          <p:nvPr/>
        </p:nvSpPr>
        <p:spPr>
          <a:xfrm>
            <a:off x="548640" y="1143000"/>
            <a:ext cx="6766560" cy="2103120"/>
          </a:xfrm>
          <a:prstGeom prst="rect">
            <a:avLst/>
          </a:prstGeom>
          <a:noFill/>
          <a:ln/>
        </p:spPr>
        <p:txBody>
          <a:bodyPr wrap="square" lIns="0" tIns="0" rIns="0" bIns="0" rtlCol="0" anchor="ctr"/>
          <a:lstStyle/>
          <a:p>
            <a:pPr indent="0" marL="0">
              <a:lnSpc>
                <a:spcPct val="95000"/>
              </a:lnSpc>
              <a:buNone/>
            </a:pPr>
            <a:r>
              <a:rPr lang="en-US" sz="6800" dirty="0">
                <a:solidFill>
                  <a:srgbClr val="F6C453"/>
                </a:solidFill>
                <a:latin typeface="Instrument Serif" pitchFamily="34" charset="0"/>
                <a:ea typeface="Instrument Serif" pitchFamily="34" charset="-122"/>
                <a:cs typeface="Instrument Serif" pitchFamily="34" charset="-120"/>
              </a:rPr>
              <a:t>Train with touch.</a:t>
            </a:r>
            <a:endParaRPr lang="en-US" sz="6800" dirty="0"/>
          </a:p>
          <a:p>
            <a:pPr indent="0" marL="0">
              <a:lnSpc>
                <a:spcPct val="95000"/>
              </a:lnSpc>
              <a:buNone/>
            </a:pPr>
            <a:r>
              <a:rPr lang="en-US" sz="6800" dirty="0">
                <a:solidFill>
                  <a:srgbClr val="FFFFFF"/>
                </a:solidFill>
                <a:latin typeface="Instrument Serif" pitchFamily="34" charset="0"/>
                <a:ea typeface="Instrument Serif" pitchFamily="34" charset="-122"/>
                <a:cs typeface="Instrument Serif" pitchFamily="34" charset="-120"/>
              </a:rPr>
              <a:t>Deploy without it.</a:t>
            </a:r>
            <a:endParaRPr lang="en-US" sz="6800" dirty="0"/>
          </a:p>
        </p:txBody>
      </p:sp>
      <p:sp>
        <p:nvSpPr>
          <p:cNvPr id="4" name="Text 2"/>
          <p:cNvSpPr txBox="1"/>
          <p:nvPr/>
        </p:nvSpPr>
        <p:spPr>
          <a:xfrm>
            <a:off x="548640" y="3429000"/>
            <a:ext cx="6309360" cy="868680"/>
          </a:xfrm>
          <a:prstGeom prst="rect">
            <a:avLst/>
          </a:prstGeom>
          <a:noFill/>
          <a:ln/>
        </p:spPr>
        <p:txBody>
          <a:bodyPr wrap="square" lIns="0" tIns="0" rIns="0" bIns="0" rtlCol="0" anchor="t"/>
          <a:lstStyle/>
          <a:p>
            <a:pPr indent="0" marL="0">
              <a:buNone/>
            </a:pPr>
            <a:r>
              <a:rPr lang="en-US" sz="1800" dirty="0">
                <a:solidFill>
                  <a:srgbClr val="C6C7CA"/>
                </a:solidFill>
                <a:latin typeface="IBM Plex Sans" pitchFamily="34" charset="0"/>
                <a:ea typeface="IBM Plex Sans" pitchFamily="34" charset="-122"/>
                <a:cs typeface="IBM Plex Sans" pitchFamily="34" charset="-120"/>
              </a:rPr>
              <a:t>Touch can be a training-time modality. The distilled policy runs on any camera-only robot, at no extra inference cost.</a:t>
            </a:r>
            <a:endParaRPr lang="en-US" sz="1800" dirty="0"/>
          </a:p>
        </p:txBody>
      </p:sp>
      <p:sp>
        <p:nvSpPr>
          <p:cNvPr id="5" name="Shape 3"/>
          <p:cNvSpPr/>
          <p:nvPr/>
        </p:nvSpPr>
        <p:spPr>
          <a:xfrm>
            <a:off x="548640" y="4553712"/>
            <a:ext cx="3703320" cy="566928"/>
          </a:xfrm>
          <a:prstGeom prst="roundRect">
            <a:avLst>
              <a:gd name="adj" fmla="val 50000"/>
            </a:avLst>
          </a:prstGeom>
          <a:solidFill>
            <a:srgbClr val="F6C453"/>
          </a:solidFill>
          <a:ln w="12700">
            <a:solidFill>
              <a:srgbClr val="F6C453"/>
            </a:solidFill>
            <a:prstDash val="solid"/>
          </a:ln>
        </p:spPr>
      </p:sp>
      <p:sp>
        <p:nvSpPr>
          <p:cNvPr id="6" name="Text 4"/>
          <p:cNvSpPr txBox="1"/>
          <p:nvPr/>
        </p:nvSpPr>
        <p:spPr>
          <a:xfrm>
            <a:off x="548640" y="4553712"/>
            <a:ext cx="3703320" cy="566928"/>
          </a:xfrm>
          <a:prstGeom prst="rect">
            <a:avLst/>
          </a:prstGeom>
          <a:noFill/>
          <a:ln/>
        </p:spPr>
        <p:txBody>
          <a:bodyPr wrap="square" lIns="0" tIns="0" rIns="0" bIns="0" rtlCol="0" anchor="ctr"/>
          <a:lstStyle/>
          <a:p>
            <a:pPr algn="ctr" indent="0" marL="0">
              <a:buNone/>
            </a:pPr>
            <a:r>
              <a:rPr lang="en-US" sz="1600" b="1" dirty="0">
                <a:solidFill>
                  <a:srgbClr val="1A1C20"/>
                </a:solidFill>
                <a:latin typeface="IBM Plex Sans" pitchFamily="34" charset="0"/>
                <a:ea typeface="IBM Plex Sans" pitchFamily="34" charset="-122"/>
                <a:cs typeface="IBM Plex Sans" pitchFamily="34" charset="-120"/>
              </a:rPr>
              <a:t>Come see the robot at our poster</a:t>
            </a:r>
            <a:endParaRPr lang="en-US" sz="1600" dirty="0"/>
          </a:p>
        </p:txBody>
      </p:sp>
      <p:sp>
        <p:nvSpPr>
          <p:cNvPr id="7" name="Shape 5"/>
          <p:cNvSpPr/>
          <p:nvPr/>
        </p:nvSpPr>
        <p:spPr>
          <a:xfrm>
            <a:off x="7616952" y="1417320"/>
            <a:ext cx="1188720" cy="1188720"/>
          </a:xfrm>
          <a:prstGeom prst="roundRect">
            <a:avLst>
              <a:gd name="adj" fmla="val 6154"/>
            </a:avLst>
          </a:prstGeom>
          <a:solidFill>
            <a:srgbClr val="FFFFFF"/>
          </a:solidFill>
          <a:ln w="12700">
            <a:solidFill>
              <a:srgbClr val="FFFFFF"/>
            </a:solidFill>
            <a:prstDash val="solid"/>
          </a:ln>
        </p:spPr>
      </p:sp>
      <p:pic>
        <p:nvPicPr>
          <p:cNvPr id="8" name="Image 0" descr="/tmp/claude-0/deck/assets/qr_project.png">    </p:cNvPr>
          <p:cNvPicPr>
            <a:picLocks noChangeAspect="1"/>
          </p:cNvPicPr>
          <p:nvPr/>
        </p:nvPicPr>
        <p:blipFill>
          <a:blip r:embed="rId2"/>
          <a:stretch>
            <a:fillRect/>
          </a:stretch>
        </p:blipFill>
        <p:spPr>
          <a:xfrm>
            <a:off x="7690104" y="1490472"/>
            <a:ext cx="1042416" cy="1042416"/>
          </a:xfrm>
          <a:prstGeom prst="rect">
            <a:avLst/>
          </a:prstGeom>
        </p:spPr>
      </p:pic>
      <p:sp>
        <p:nvSpPr>
          <p:cNvPr id="9" name="Text 6"/>
          <p:cNvSpPr txBox="1"/>
          <p:nvPr/>
        </p:nvSpPr>
        <p:spPr>
          <a:xfrm>
            <a:off x="7525512" y="2697480"/>
            <a:ext cx="1371600" cy="256032"/>
          </a:xfrm>
          <a:prstGeom prst="rect">
            <a:avLst/>
          </a:prstGeom>
          <a:noFill/>
          <a:ln/>
        </p:spPr>
        <p:txBody>
          <a:bodyPr wrap="square" lIns="0" tIns="0" rIns="0" bIns="0" rtlCol="0" anchor="ctr"/>
          <a:lstStyle/>
          <a:p>
            <a:pPr algn="ctr" indent="0" marL="0">
              <a:buNone/>
            </a:pPr>
            <a:r>
              <a:rPr lang="en-US" sz="1050" dirty="0">
                <a:solidFill>
                  <a:srgbClr val="F6C453"/>
                </a:solidFill>
                <a:latin typeface="JetBrains Mono" pitchFamily="34" charset="0"/>
                <a:ea typeface="JetBrains Mono" pitchFamily="34" charset="-122"/>
                <a:cs typeface="JetBrains Mono" pitchFamily="34" charset="-120"/>
              </a:rPr>
              <a:t>Project page</a:t>
            </a:r>
            <a:endParaRPr lang="en-US" sz="1050" dirty="0"/>
          </a:p>
        </p:txBody>
      </p:sp>
      <p:sp>
        <p:nvSpPr>
          <p:cNvPr id="10" name="Shape 7"/>
          <p:cNvSpPr/>
          <p:nvPr/>
        </p:nvSpPr>
        <p:spPr>
          <a:xfrm>
            <a:off x="9034272" y="1417320"/>
            <a:ext cx="1188720" cy="1188720"/>
          </a:xfrm>
          <a:prstGeom prst="roundRect">
            <a:avLst>
              <a:gd name="adj" fmla="val 6154"/>
            </a:avLst>
          </a:prstGeom>
          <a:solidFill>
            <a:srgbClr val="FFFFFF"/>
          </a:solidFill>
          <a:ln w="12700">
            <a:solidFill>
              <a:srgbClr val="FFFFFF"/>
            </a:solidFill>
            <a:prstDash val="solid"/>
          </a:ln>
        </p:spPr>
      </p:sp>
      <p:pic>
        <p:nvPicPr>
          <p:cNvPr id="11" name="Image 1" descr="/tmp/claude-0/deck/assets/qr_video.png">    </p:cNvPr>
          <p:cNvPicPr>
            <a:picLocks noChangeAspect="1"/>
          </p:cNvPicPr>
          <p:nvPr/>
        </p:nvPicPr>
        <p:blipFill>
          <a:blip r:embed="rId3"/>
          <a:stretch>
            <a:fillRect/>
          </a:stretch>
        </p:blipFill>
        <p:spPr>
          <a:xfrm>
            <a:off x="9107424" y="1490472"/>
            <a:ext cx="1042416" cy="1042416"/>
          </a:xfrm>
          <a:prstGeom prst="rect">
            <a:avLst/>
          </a:prstGeom>
        </p:spPr>
      </p:pic>
      <p:sp>
        <p:nvSpPr>
          <p:cNvPr id="12" name="Text 8"/>
          <p:cNvSpPr txBox="1"/>
          <p:nvPr/>
        </p:nvSpPr>
        <p:spPr>
          <a:xfrm>
            <a:off x="8942832" y="2697480"/>
            <a:ext cx="1371600" cy="256032"/>
          </a:xfrm>
          <a:prstGeom prst="rect">
            <a:avLst/>
          </a:prstGeom>
          <a:noFill/>
          <a:ln/>
        </p:spPr>
        <p:txBody>
          <a:bodyPr wrap="square" lIns="0" tIns="0" rIns="0" bIns="0" rtlCol="0" anchor="ctr"/>
          <a:lstStyle/>
          <a:p>
            <a:pPr algn="ctr" indent="0" marL="0">
              <a:buNone/>
            </a:pPr>
            <a:r>
              <a:rPr lang="en-US" sz="1050" dirty="0">
                <a:solidFill>
                  <a:srgbClr val="F6C453"/>
                </a:solidFill>
                <a:latin typeface="JetBrains Mono" pitchFamily="34" charset="0"/>
                <a:ea typeface="JetBrains Mono" pitchFamily="34" charset="-122"/>
                <a:cs typeface="JetBrains Mono" pitchFamily="34" charset="-120"/>
              </a:rPr>
              <a:t>Video</a:t>
            </a:r>
            <a:endParaRPr lang="en-US" sz="1050" dirty="0"/>
          </a:p>
        </p:txBody>
      </p:sp>
      <p:sp>
        <p:nvSpPr>
          <p:cNvPr id="13" name="Shape 9"/>
          <p:cNvSpPr/>
          <p:nvPr/>
        </p:nvSpPr>
        <p:spPr>
          <a:xfrm>
            <a:off x="10451592" y="1417320"/>
            <a:ext cx="1188720" cy="1188720"/>
          </a:xfrm>
          <a:prstGeom prst="roundRect">
            <a:avLst>
              <a:gd name="adj" fmla="val 6154"/>
            </a:avLst>
          </a:prstGeom>
          <a:solidFill>
            <a:srgbClr val="FFFFFF"/>
          </a:solidFill>
          <a:ln w="12700">
            <a:solidFill>
              <a:srgbClr val="FFFFFF"/>
            </a:solidFill>
            <a:prstDash val="solid"/>
          </a:ln>
        </p:spPr>
      </p:sp>
      <p:pic>
        <p:nvPicPr>
          <p:cNvPr id="14" name="Image 2" descr="/tmp/claude-0/deck/assets/qr_code.png">    </p:cNvPr>
          <p:cNvPicPr>
            <a:picLocks noChangeAspect="1"/>
          </p:cNvPicPr>
          <p:nvPr/>
        </p:nvPicPr>
        <p:blipFill>
          <a:blip r:embed="rId4"/>
          <a:stretch>
            <a:fillRect/>
          </a:stretch>
        </p:blipFill>
        <p:spPr>
          <a:xfrm>
            <a:off x="10524744" y="1490472"/>
            <a:ext cx="1042416" cy="1042416"/>
          </a:xfrm>
          <a:prstGeom prst="rect">
            <a:avLst/>
          </a:prstGeom>
        </p:spPr>
      </p:pic>
      <p:sp>
        <p:nvSpPr>
          <p:cNvPr id="15" name="Text 10"/>
          <p:cNvSpPr txBox="1"/>
          <p:nvPr/>
        </p:nvSpPr>
        <p:spPr>
          <a:xfrm>
            <a:off x="10360152" y="2697480"/>
            <a:ext cx="1371600" cy="256032"/>
          </a:xfrm>
          <a:prstGeom prst="rect">
            <a:avLst/>
          </a:prstGeom>
          <a:noFill/>
          <a:ln/>
        </p:spPr>
        <p:txBody>
          <a:bodyPr wrap="square" lIns="0" tIns="0" rIns="0" bIns="0" rtlCol="0" anchor="ctr"/>
          <a:lstStyle/>
          <a:p>
            <a:pPr algn="ctr" indent="0" marL="0">
              <a:buNone/>
            </a:pPr>
            <a:r>
              <a:rPr lang="en-US" sz="1050" dirty="0">
                <a:solidFill>
                  <a:srgbClr val="F6C453"/>
                </a:solidFill>
                <a:latin typeface="JetBrains Mono" pitchFamily="34" charset="0"/>
                <a:ea typeface="JetBrains Mono" pitchFamily="34" charset="-122"/>
                <a:cs typeface="JetBrains Mono" pitchFamily="34" charset="-120"/>
              </a:rPr>
              <a:t>Code + data</a:t>
            </a:r>
            <a:endParaRPr lang="en-US" sz="1050" dirty="0"/>
          </a:p>
        </p:txBody>
      </p:sp>
      <p:sp>
        <p:nvSpPr>
          <p:cNvPr id="16" name="Text 11"/>
          <p:cNvSpPr txBox="1"/>
          <p:nvPr/>
        </p:nvSpPr>
        <p:spPr>
          <a:xfrm>
            <a:off x="7616952" y="3310128"/>
            <a:ext cx="4023360" cy="1600200"/>
          </a:xfrm>
          <a:prstGeom prst="rect">
            <a:avLst/>
          </a:prstGeom>
          <a:noFill/>
          <a:ln/>
        </p:spPr>
        <p:txBody>
          <a:bodyPr wrap="square" lIns="0" tIns="0" rIns="0" bIns="0" rtlCol="0" anchor="t"/>
          <a:lstStyle/>
          <a:p>
            <a:pPr indent="0" marL="0">
              <a:lnSpc>
                <a:spcPct val="125000"/>
              </a:lnSpc>
              <a:buNone/>
            </a:pPr>
            <a:r>
              <a:rPr lang="en-US" sz="1000" b="1" dirty="0">
                <a:solidFill>
                  <a:srgbClr val="F6C453"/>
                </a:solidFill>
                <a:latin typeface="JetBrains Mono" pitchFamily="34" charset="0"/>
                <a:ea typeface="JetBrains Mono" pitchFamily="34" charset="-122"/>
                <a:cs typeface="JetBrains Mono" pitchFamily="34" charset="-120"/>
              </a:rPr>
              <a:t>PAPER</a:t>
            </a:r>
            <a:endParaRPr lang="en-US" sz="1000" dirty="0"/>
          </a:p>
          <a:p>
            <a:pPr indent="0" marL="0">
              <a:lnSpc>
                <a:spcPct val="125000"/>
              </a:lnSpc>
              <a:buNone/>
            </a:pPr>
            <a:r>
              <a:rPr lang="en-US" sz="1000" dirty="0">
                <a:solidFill>
                  <a:srgbClr val="EDEDEE"/>
                </a:solidFill>
                <a:latin typeface="JetBrains Mono" pitchFamily="34" charset="0"/>
                <a:ea typeface="JetBrains Mono" pitchFamily="34" charset="-122"/>
                <a:cs typeface="JetBrains Mono" pitchFamily="34" charset="-120"/>
              </a:rPr>
              <a:t>arXiv:2603.15257</a:t>
            </a:r>
            <a:endParaRPr lang="en-US" sz="1000" dirty="0"/>
          </a:p>
          <a:p>
            <a:pPr indent="0" marL="0">
              <a:lnSpc>
                <a:spcPct val="125000"/>
              </a:lnSpc>
              <a:spcBef>
                <a:spcPts val="800"/>
              </a:spcBef>
              <a:buNone/>
            </a:pPr>
            <a:r>
              <a:rPr lang="en-US" sz="1000" b="1" dirty="0">
                <a:solidFill>
                  <a:srgbClr val="F6C453"/>
                </a:solidFill>
                <a:latin typeface="JetBrains Mono" pitchFamily="34" charset="0"/>
                <a:ea typeface="JetBrains Mono" pitchFamily="34" charset="-122"/>
                <a:cs typeface="JetBrains Mono" pitchFamily="34" charset="-120"/>
              </a:rPr>
              <a:t>CODE + DATASET + DIGITAL TWIN</a:t>
            </a:r>
            <a:endParaRPr lang="en-US" sz="1000" dirty="0"/>
          </a:p>
          <a:p>
            <a:pPr indent="0" marL="0">
              <a:lnSpc>
                <a:spcPct val="125000"/>
              </a:lnSpc>
              <a:buNone/>
            </a:pPr>
            <a:r>
              <a:rPr lang="en-US" sz="1000" dirty="0">
                <a:solidFill>
                  <a:srgbClr val="EDEDEE"/>
                </a:solidFill>
                <a:latin typeface="JetBrains Mono" pitchFamily="34" charset="0"/>
                <a:ea typeface="JetBrains Mono" pitchFamily="34" charset="-122"/>
                <a:cs typeface="JetBrains Mono" pitchFamily="34" charset="-120"/>
              </a:rPr>
              <a:t>github.com/Advanced-Robotic-Manipulation/crab</a:t>
            </a:r>
            <a:endParaRPr lang="en-US" sz="1000" dirty="0"/>
          </a:p>
          <a:p>
            <a:pPr indent="0" marL="0">
              <a:lnSpc>
                <a:spcPct val="125000"/>
              </a:lnSpc>
              <a:spcBef>
                <a:spcPts val="800"/>
              </a:spcBef>
              <a:buNone/>
            </a:pPr>
            <a:r>
              <a:rPr lang="en-US" sz="1000" b="1" dirty="0">
                <a:solidFill>
                  <a:srgbClr val="F6C453"/>
                </a:solidFill>
                <a:latin typeface="JetBrains Mono" pitchFamily="34" charset="0"/>
                <a:ea typeface="JetBrains Mono" pitchFamily="34" charset="-122"/>
                <a:cs typeface="JetBrains Mono" pitchFamily="34" charset="-120"/>
              </a:rPr>
              <a:t>MODELS</a:t>
            </a:r>
            <a:endParaRPr lang="en-US" sz="1000" dirty="0"/>
          </a:p>
          <a:p>
            <a:pPr indent="0" marL="0">
              <a:lnSpc>
                <a:spcPct val="125000"/>
              </a:lnSpc>
              <a:buNone/>
            </a:pPr>
            <a:r>
              <a:rPr lang="en-US" sz="1000" dirty="0">
                <a:solidFill>
                  <a:srgbClr val="EDEDEE"/>
                </a:solidFill>
                <a:latin typeface="JetBrains Mono" pitchFamily="34" charset="0"/>
                <a:ea typeface="JetBrains Mono" pitchFamily="34" charset="-122"/>
                <a:cs typeface="JetBrains Mono" pitchFamily="34" charset="-120"/>
              </a:rPr>
              <a:t>huggingface.co/armteam</a:t>
            </a:r>
            <a:endParaRPr lang="en-US" sz="1000" dirty="0"/>
          </a:p>
        </p:txBody>
      </p:sp>
      <p:pic>
        <p:nvPicPr>
          <p:cNvPr id="17" name="Image 3" descr="/tmp/claude-0/deck/assets/skoltech_white.png">    </p:cNvPr>
          <p:cNvPicPr>
            <a:picLocks noChangeAspect="1"/>
          </p:cNvPicPr>
          <p:nvPr/>
        </p:nvPicPr>
        <p:blipFill>
          <a:blip r:embed="rId5"/>
          <a:stretch>
            <a:fillRect/>
          </a:stretch>
        </p:blipFill>
        <p:spPr>
          <a:xfrm>
            <a:off x="548640" y="5870448"/>
            <a:ext cx="1645920" cy="277063"/>
          </a:xfrm>
          <a:prstGeom prst="rect">
            <a:avLst/>
          </a:prstGeom>
        </p:spPr>
      </p:pic>
      <p:pic>
        <p:nvPicPr>
          <p:cNvPr id="18" name="Image 4" descr="/tmp/claude-0/deck/assets/yandex_white.png">    </p:cNvPr>
          <p:cNvPicPr>
            <a:picLocks noChangeAspect="1"/>
          </p:cNvPicPr>
          <p:nvPr/>
        </p:nvPicPr>
        <p:blipFill>
          <a:blip r:embed="rId6"/>
          <a:stretch>
            <a:fillRect/>
          </a:stretch>
        </p:blipFill>
        <p:spPr>
          <a:xfrm>
            <a:off x="2514600" y="5907024"/>
            <a:ext cx="1783080" cy="207569"/>
          </a:xfrm>
          <a:prstGeom prst="rect">
            <a:avLst/>
          </a:prstGeom>
        </p:spPr>
      </p:pic>
      <p:sp>
        <p:nvSpPr>
          <p:cNvPr id="19" name="Shape 12"/>
          <p:cNvSpPr/>
          <p:nvPr/>
        </p:nvSpPr>
        <p:spPr>
          <a:xfrm>
            <a:off x="4617720" y="5669280"/>
            <a:ext cx="1005840" cy="694944"/>
          </a:xfrm>
          <a:prstGeom prst="roundRect">
            <a:avLst>
              <a:gd name="adj" fmla="val 7895"/>
            </a:avLst>
          </a:prstGeom>
          <a:solidFill>
            <a:srgbClr val="FFFFFF"/>
          </a:solidFill>
          <a:ln w="6350">
            <a:solidFill>
              <a:srgbClr val="FFFFFF"/>
            </a:solidFill>
            <a:prstDash val="solid"/>
          </a:ln>
        </p:spPr>
      </p:sp>
      <p:pic>
        <p:nvPicPr>
          <p:cNvPr id="20" name="Image 5" descr="/tmp/claude-0/deck/assets/iros.png">    </p:cNvPr>
          <p:cNvPicPr>
            <a:picLocks noChangeAspect="1"/>
          </p:cNvPicPr>
          <p:nvPr/>
        </p:nvPicPr>
        <p:blipFill>
          <a:blip r:embed="rId7"/>
          <a:stretch>
            <a:fillRect/>
          </a:stretch>
        </p:blipFill>
        <p:spPr>
          <a:xfrm>
            <a:off x="4672584" y="5710428"/>
            <a:ext cx="896112" cy="581558"/>
          </a:xfrm>
          <a:prstGeom prst="rect">
            <a:avLst/>
          </a:prstGeom>
        </p:spPr>
      </p:pic>
      <p:sp>
        <p:nvSpPr>
          <p:cNvPr id="21" name="Text 13"/>
          <p:cNvSpPr txBox="1"/>
          <p:nvPr/>
        </p:nvSpPr>
        <p:spPr>
          <a:xfrm>
            <a:off x="6675120" y="5705856"/>
            <a:ext cx="4965192" cy="603504"/>
          </a:xfrm>
          <a:prstGeom prst="rect">
            <a:avLst/>
          </a:prstGeom>
          <a:noFill/>
          <a:ln/>
        </p:spPr>
        <p:txBody>
          <a:bodyPr wrap="square" lIns="0" tIns="0" rIns="0" bIns="0" rtlCol="0" anchor="ctr"/>
          <a:lstStyle/>
          <a:p>
            <a:pPr algn="r" indent="0" marL="0">
              <a:lnSpc>
                <a:spcPct val="120000"/>
              </a:lnSpc>
              <a:buNone/>
            </a:pPr>
            <a:r>
              <a:rPr lang="en-US" sz="1100" dirty="0">
                <a:solidFill>
                  <a:srgbClr val="C6C7CA"/>
                </a:solidFill>
                <a:latin typeface="IBM Plex Sans" pitchFamily="34" charset="0"/>
                <a:ea typeface="IBM Plex Sans" pitchFamily="34" charset="-122"/>
                <a:cs typeface="IBM Plex Sans" pitchFamily="34" charset="-120"/>
              </a:rPr>
              <a:t>Supported by RSF grant No. 24-41-02039</a:t>
            </a:r>
            <a:endParaRPr lang="en-US" sz="1100" dirty="0"/>
          </a:p>
          <a:p>
            <a:pPr algn="r" indent="0" marL="0">
              <a:lnSpc>
                <a:spcPct val="120000"/>
              </a:lnSpc>
              <a:buNone/>
            </a:pPr>
            <a:r>
              <a:rPr lang="en-US" sz="1100" dirty="0">
                <a:solidFill>
                  <a:srgbClr val="C6C7CA"/>
                </a:solidFill>
                <a:latin typeface="IBM Plex Sans" pitchFamily="34" charset="0"/>
                <a:ea typeface="IBM Plex Sans" pitchFamily="34" charset="-122"/>
                <a:cs typeface="IBM Plex Sans" pitchFamily="34" charset="-120"/>
              </a:rPr>
              <a:t>Tactile sensors: Prof. H. Kajimoto, UEC Tokyo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HapticVLA — IROS 2026 Lightning Talk</dc:title>
  <dc:subject>PptxGenJS Presentation</dc:subject>
  <dc:creator>Gubernatorov, Sannikov, Mikhalchuk, et al. — Skoltech</dc:creator>
  <cp:lastModifiedBy>Gubernatorov, Sannikov, Mikhalchuk, et al. — Skoltech</cp:lastModifiedBy>
  <cp:revision>1</cp:revision>
  <dcterms:created xsi:type="dcterms:W3CDTF">2026-09-27T16:35:00Z</dcterms:created>
  <dcterms:modified xsi:type="dcterms:W3CDTF">2026-09-27T16:35:00Z</dcterms:modified>
</cp:coreProperties>
</file>